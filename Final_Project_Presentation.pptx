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larendon Narrow" panose="020B0604020202020204" charset="0"/>
      <p:regular r:id="rId13"/>
    </p:embeddedFont>
    <p:embeddedFont>
      <p:font typeface="Clarendon Narrow Bold" panose="020B0604020202020204" charset="0"/>
      <p:regular r:id="rId14"/>
    </p:embeddedFont>
    <p:embeddedFont>
      <p:font typeface="Cloud" panose="020B0604020202020204" charset="0"/>
      <p:regular r:id="rId15"/>
    </p:embeddedFont>
    <p:embeddedFont>
      <p:font typeface="Cloud Bold" panose="020B0604020202020204" charset="0"/>
      <p:regular r:id="rId16"/>
    </p:embeddedFont>
    <p:embeddedFont>
      <p:font typeface="Cloud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149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sv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svg"/><Relationship Id="rId7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9.svg"/><Relationship Id="rId7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nalytica-git-main-mona-ayoups-projects.vercel.app/?_vercel_share=Wi2XKm9K4Cmiwq5J8Mo4SORBkCqDky4R" TargetMode="Externa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9.sv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microsoft.com/office/2011/relationships/webextension" Target="../webextensions/webextension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10" Type="http://schemas.openxmlformats.org/officeDocument/2006/relationships/image" Target="../media/image9.png"/><Relationship Id="rId4" Type="http://schemas.openxmlformats.org/officeDocument/2006/relationships/image" Target="../media/image25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sv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svg"/><Relationship Id="rId10" Type="http://schemas.openxmlformats.org/officeDocument/2006/relationships/image" Target="../media/image9.png"/><Relationship Id="rId4" Type="http://schemas.openxmlformats.org/officeDocument/2006/relationships/image" Target="../media/image25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4.png"/><Relationship Id="rId7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99198" y="665151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093484" y="-383408"/>
            <a:ext cx="11067650" cy="11053816"/>
          </a:xfrm>
          <a:custGeom>
            <a:avLst/>
            <a:gdLst/>
            <a:ahLst/>
            <a:cxnLst/>
            <a:rect l="l" t="t" r="r" b="b"/>
            <a:pathLst>
              <a:path w="11067650" h="11053816">
                <a:moveTo>
                  <a:pt x="0" y="0"/>
                </a:moveTo>
                <a:lnTo>
                  <a:pt x="11067651" y="0"/>
                </a:lnTo>
                <a:lnTo>
                  <a:pt x="11067651" y="11053816"/>
                </a:lnTo>
                <a:lnTo>
                  <a:pt x="0" y="11053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 rot="5400000">
            <a:off x="7857602" y="-1836977"/>
            <a:ext cx="11343275" cy="13960954"/>
            <a:chOff x="0" y="0"/>
            <a:chExt cx="6604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2F415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660400" cy="781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333092" y="-383408"/>
            <a:ext cx="5426576" cy="4676722"/>
          </a:xfrm>
          <a:custGeom>
            <a:avLst/>
            <a:gdLst/>
            <a:ahLst/>
            <a:cxnLst/>
            <a:rect l="l" t="t" r="r" b="b"/>
            <a:pathLst>
              <a:path w="5426576" h="4676722">
                <a:moveTo>
                  <a:pt x="0" y="0"/>
                </a:moveTo>
                <a:lnTo>
                  <a:pt x="5426576" y="0"/>
                </a:lnTo>
                <a:lnTo>
                  <a:pt x="5426576" y="4676722"/>
                </a:lnTo>
                <a:lnTo>
                  <a:pt x="0" y="46767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 flipV="1">
            <a:off x="204154" y="7647498"/>
            <a:ext cx="2176042" cy="2427633"/>
          </a:xfrm>
          <a:custGeom>
            <a:avLst/>
            <a:gdLst/>
            <a:ahLst/>
            <a:cxnLst/>
            <a:rect l="l" t="t" r="r" b="b"/>
            <a:pathLst>
              <a:path w="2176042" h="2427633">
                <a:moveTo>
                  <a:pt x="2176042" y="2427634"/>
                </a:moveTo>
                <a:lnTo>
                  <a:pt x="0" y="2427634"/>
                </a:lnTo>
                <a:lnTo>
                  <a:pt x="0" y="0"/>
                </a:lnTo>
                <a:lnTo>
                  <a:pt x="2176042" y="0"/>
                </a:lnTo>
                <a:lnTo>
                  <a:pt x="2176042" y="242763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279784" y="2546755"/>
            <a:ext cx="10451886" cy="2596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20"/>
              </a:lnSpc>
            </a:pPr>
            <a:r>
              <a:rPr lang="en-US" sz="10494">
                <a:solidFill>
                  <a:srgbClr val="F5EFEB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FROM DATA TO OPPORTUNITY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51494" y="6118115"/>
            <a:ext cx="7708466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Graduation Project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F07C56-0AC4-E7CF-1BDA-10577E65F5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40200" y="-113488"/>
            <a:ext cx="1447800" cy="1427117"/>
          </a:xfrm>
          <a:prstGeom prst="rect">
            <a:avLst/>
          </a:prstGeom>
        </p:spPr>
      </p:pic>
      <p:pic>
        <p:nvPicPr>
          <p:cNvPr id="12" name="Picture 11" descr="A logo with a globe and a graduation cap&#10;&#10;AI-generated content may be incorrect.">
            <a:extLst>
              <a:ext uri="{FF2B5EF4-FFF2-40B4-BE49-F238E27FC236}">
                <a16:creationId xmlns:a16="http://schemas.microsoft.com/office/drawing/2014/main" id="{ACAF9828-581B-86AA-1B31-CAD0CF7443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-113488"/>
            <a:ext cx="1823498" cy="14065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504025" y="-343927"/>
            <a:ext cx="6508145" cy="2745254"/>
          </a:xfrm>
          <a:custGeom>
            <a:avLst/>
            <a:gdLst/>
            <a:ahLst/>
            <a:cxnLst/>
            <a:rect l="l" t="t" r="r" b="b"/>
            <a:pathLst>
              <a:path w="6508145" h="2745254">
                <a:moveTo>
                  <a:pt x="0" y="2745254"/>
                </a:moveTo>
                <a:lnTo>
                  <a:pt x="6508145" y="2745254"/>
                </a:lnTo>
                <a:lnTo>
                  <a:pt x="6508145" y="0"/>
                </a:lnTo>
                <a:lnTo>
                  <a:pt x="0" y="0"/>
                </a:lnTo>
                <a:lnTo>
                  <a:pt x="0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5889928" y="-343927"/>
            <a:ext cx="6508145" cy="2745254"/>
          </a:xfrm>
          <a:custGeom>
            <a:avLst/>
            <a:gdLst/>
            <a:ahLst/>
            <a:cxnLst/>
            <a:rect l="l" t="t" r="r" b="b"/>
            <a:pathLst>
              <a:path w="6508145" h="2745254">
                <a:moveTo>
                  <a:pt x="6508144" y="2745254"/>
                </a:moveTo>
                <a:lnTo>
                  <a:pt x="0" y="2745254"/>
                </a:lnTo>
                <a:lnTo>
                  <a:pt x="0" y="0"/>
                </a:lnTo>
                <a:lnTo>
                  <a:pt x="6508144" y="0"/>
                </a:lnTo>
                <a:lnTo>
                  <a:pt x="6508144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12283880" y="-343927"/>
            <a:ext cx="6508145" cy="2745254"/>
          </a:xfrm>
          <a:custGeom>
            <a:avLst/>
            <a:gdLst/>
            <a:ahLst/>
            <a:cxnLst/>
            <a:rect l="l" t="t" r="r" b="b"/>
            <a:pathLst>
              <a:path w="6508145" h="2745254">
                <a:moveTo>
                  <a:pt x="0" y="2745254"/>
                </a:moveTo>
                <a:lnTo>
                  <a:pt x="6508145" y="2745254"/>
                </a:lnTo>
                <a:lnTo>
                  <a:pt x="6508145" y="0"/>
                </a:lnTo>
                <a:lnTo>
                  <a:pt x="0" y="0"/>
                </a:lnTo>
                <a:lnTo>
                  <a:pt x="0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529317" y="1847436"/>
            <a:ext cx="12703611" cy="12691989"/>
          </a:xfrm>
          <a:custGeom>
            <a:avLst/>
            <a:gdLst/>
            <a:ahLst/>
            <a:cxnLst/>
            <a:rect l="l" t="t" r="r" b="b"/>
            <a:pathLst>
              <a:path w="12703611" h="12691989">
                <a:moveTo>
                  <a:pt x="0" y="0"/>
                </a:moveTo>
                <a:lnTo>
                  <a:pt x="12703611" y="0"/>
                </a:lnTo>
                <a:lnTo>
                  <a:pt x="12703611" y="12691988"/>
                </a:lnTo>
                <a:lnTo>
                  <a:pt x="0" y="12691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-321706" y="2935499"/>
            <a:ext cx="18931411" cy="9101640"/>
            <a:chOff x="0" y="0"/>
            <a:chExt cx="660400" cy="317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2F415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31750"/>
              <a:ext cx="660400" cy="285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795531" y="998553"/>
            <a:ext cx="1697766" cy="1697766"/>
          </a:xfrm>
          <a:custGeom>
            <a:avLst/>
            <a:gdLst/>
            <a:ahLst/>
            <a:cxnLst/>
            <a:rect l="l" t="t" r="r" b="b"/>
            <a:pathLst>
              <a:path w="1697766" h="1697766">
                <a:moveTo>
                  <a:pt x="0" y="0"/>
                </a:moveTo>
                <a:lnTo>
                  <a:pt x="1697766" y="0"/>
                </a:lnTo>
                <a:lnTo>
                  <a:pt x="1697766" y="1697766"/>
                </a:lnTo>
                <a:lnTo>
                  <a:pt x="0" y="1697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923855" y="998553"/>
            <a:ext cx="1697766" cy="1697766"/>
          </a:xfrm>
          <a:custGeom>
            <a:avLst/>
            <a:gdLst/>
            <a:ahLst/>
            <a:cxnLst/>
            <a:rect l="l" t="t" r="r" b="b"/>
            <a:pathLst>
              <a:path w="1697766" h="1697766">
                <a:moveTo>
                  <a:pt x="0" y="0"/>
                </a:moveTo>
                <a:lnTo>
                  <a:pt x="1697766" y="0"/>
                </a:lnTo>
                <a:lnTo>
                  <a:pt x="1697766" y="1697766"/>
                </a:lnTo>
                <a:lnTo>
                  <a:pt x="0" y="1697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7568366" y="1627460"/>
            <a:ext cx="1203264" cy="1203264"/>
          </a:xfrm>
          <a:custGeom>
            <a:avLst/>
            <a:gdLst/>
            <a:ahLst/>
            <a:cxnLst/>
            <a:rect l="l" t="t" r="r" b="b"/>
            <a:pathLst>
              <a:path w="1203264" h="1203264">
                <a:moveTo>
                  <a:pt x="0" y="0"/>
                </a:moveTo>
                <a:lnTo>
                  <a:pt x="1203265" y="0"/>
                </a:lnTo>
                <a:lnTo>
                  <a:pt x="1203265" y="1203264"/>
                </a:lnTo>
                <a:lnTo>
                  <a:pt x="0" y="1203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601632" y="2401327"/>
            <a:ext cx="1203264" cy="1203264"/>
          </a:xfrm>
          <a:custGeom>
            <a:avLst/>
            <a:gdLst/>
            <a:ahLst/>
            <a:cxnLst/>
            <a:rect l="l" t="t" r="r" b="b"/>
            <a:pathLst>
              <a:path w="1203264" h="1203264">
                <a:moveTo>
                  <a:pt x="0" y="0"/>
                </a:moveTo>
                <a:lnTo>
                  <a:pt x="1203264" y="0"/>
                </a:lnTo>
                <a:lnTo>
                  <a:pt x="1203264" y="1203264"/>
                </a:lnTo>
                <a:lnTo>
                  <a:pt x="0" y="1203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556319" y="7977070"/>
            <a:ext cx="5841753" cy="60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2"/>
              </a:lnSpc>
              <a:spcBef>
                <a:spcPct val="0"/>
              </a:spcBef>
            </a:pPr>
            <a:r>
              <a:rPr lang="en-US" sz="3494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Malak Ahmed Mansour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89928" y="7256203"/>
            <a:ext cx="7789061" cy="615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5"/>
              </a:lnSpc>
              <a:spcBef>
                <a:spcPct val="0"/>
              </a:spcBef>
            </a:pPr>
            <a:r>
              <a:rPr lang="en-US" sz="3525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Maryam Ahmed Elnwehy (</a:t>
            </a:r>
            <a:r>
              <a:rPr lang="en-US" sz="3525" i="1" u="sng">
                <a:solidFill>
                  <a:srgbClr val="FFFFFF"/>
                </a:solidFill>
                <a:latin typeface="Cloud Italics"/>
                <a:ea typeface="Cloud Italics"/>
                <a:cs typeface="Cloud Italics"/>
                <a:sym typeface="Cloud Italics"/>
              </a:rPr>
              <a:t>supervisor</a:t>
            </a:r>
            <a:r>
              <a:rPr lang="en-US" sz="3525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39337" y="6554386"/>
            <a:ext cx="5841753" cy="60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2"/>
              </a:lnSpc>
              <a:spcBef>
                <a:spcPct val="0"/>
              </a:spcBef>
            </a:pPr>
            <a:r>
              <a:rPr lang="en-US" sz="3494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Mona Mohammed Ayoub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11694" y="901942"/>
            <a:ext cx="7138856" cy="13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Project Overview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23123" y="5677943"/>
            <a:ext cx="5841753" cy="771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2"/>
              </a:lnSpc>
              <a:spcBef>
                <a:spcPct val="0"/>
              </a:spcBef>
            </a:pPr>
            <a:r>
              <a:rPr lang="en-US" sz="4494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Our Team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23123" y="3509341"/>
            <a:ext cx="5841753" cy="771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2"/>
              </a:lnSpc>
              <a:spcBef>
                <a:spcPct val="0"/>
              </a:spcBef>
            </a:pPr>
            <a:r>
              <a:rPr lang="en-US" sz="4494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Project Name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23123" y="4366525"/>
            <a:ext cx="5841753" cy="1225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2"/>
              </a:lnSpc>
              <a:spcBef>
                <a:spcPct val="0"/>
              </a:spcBef>
            </a:pPr>
            <a:r>
              <a:rPr lang="en-US" sz="3494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Youth Employment Gap Analysis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56319" y="8669363"/>
            <a:ext cx="5841753" cy="771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2"/>
              </a:lnSpc>
              <a:spcBef>
                <a:spcPct val="0"/>
              </a:spcBef>
            </a:pPr>
            <a:r>
              <a:rPr lang="en-US" sz="4494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Tech Stack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56319" y="9364831"/>
            <a:ext cx="5841753" cy="606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2"/>
              </a:lnSpc>
              <a:spcBef>
                <a:spcPct val="0"/>
              </a:spcBef>
            </a:pPr>
            <a:r>
              <a:rPr lang="en-US" sz="3494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Eng/ Eman Ghanem</a:t>
            </a:r>
          </a:p>
        </p:txBody>
      </p:sp>
      <p:pic>
        <p:nvPicPr>
          <p:cNvPr id="22" name="Picture 21" descr="A logo with a globe and a graduation cap&#10;&#10;AI-generated content may be incorrect.">
            <a:extLst>
              <a:ext uri="{FF2B5EF4-FFF2-40B4-BE49-F238E27FC236}">
                <a16:creationId xmlns:a16="http://schemas.microsoft.com/office/drawing/2014/main" id="{4CDFEA6E-2FFE-F4D6-EC7C-BA7969CB4B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823498" cy="140655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D28B4C4-7A87-3159-DF35-79748455BE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40200" y="-20562"/>
            <a:ext cx="1447800" cy="14271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504025" y="-343927"/>
            <a:ext cx="6508145" cy="2745254"/>
          </a:xfrm>
          <a:custGeom>
            <a:avLst/>
            <a:gdLst/>
            <a:ahLst/>
            <a:cxnLst/>
            <a:rect l="l" t="t" r="r" b="b"/>
            <a:pathLst>
              <a:path w="6508145" h="2745254">
                <a:moveTo>
                  <a:pt x="0" y="2745254"/>
                </a:moveTo>
                <a:lnTo>
                  <a:pt x="6508145" y="2745254"/>
                </a:lnTo>
                <a:lnTo>
                  <a:pt x="6508145" y="0"/>
                </a:lnTo>
                <a:lnTo>
                  <a:pt x="0" y="0"/>
                </a:lnTo>
                <a:lnTo>
                  <a:pt x="0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5889928" y="-343927"/>
            <a:ext cx="6508145" cy="2745254"/>
          </a:xfrm>
          <a:custGeom>
            <a:avLst/>
            <a:gdLst/>
            <a:ahLst/>
            <a:cxnLst/>
            <a:rect l="l" t="t" r="r" b="b"/>
            <a:pathLst>
              <a:path w="6508145" h="2745254">
                <a:moveTo>
                  <a:pt x="6508144" y="2745254"/>
                </a:moveTo>
                <a:lnTo>
                  <a:pt x="0" y="2745254"/>
                </a:lnTo>
                <a:lnTo>
                  <a:pt x="0" y="0"/>
                </a:lnTo>
                <a:lnTo>
                  <a:pt x="6508144" y="0"/>
                </a:lnTo>
                <a:lnTo>
                  <a:pt x="6508144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V="1">
            <a:off x="12283880" y="-343927"/>
            <a:ext cx="6508145" cy="2745254"/>
          </a:xfrm>
          <a:custGeom>
            <a:avLst/>
            <a:gdLst/>
            <a:ahLst/>
            <a:cxnLst/>
            <a:rect l="l" t="t" r="r" b="b"/>
            <a:pathLst>
              <a:path w="6508145" h="2745254">
                <a:moveTo>
                  <a:pt x="0" y="2745254"/>
                </a:moveTo>
                <a:lnTo>
                  <a:pt x="6508145" y="2745254"/>
                </a:lnTo>
                <a:lnTo>
                  <a:pt x="6508145" y="0"/>
                </a:lnTo>
                <a:lnTo>
                  <a:pt x="0" y="0"/>
                </a:lnTo>
                <a:lnTo>
                  <a:pt x="0" y="274525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529317" y="1847436"/>
            <a:ext cx="12703611" cy="12691989"/>
          </a:xfrm>
          <a:custGeom>
            <a:avLst/>
            <a:gdLst/>
            <a:ahLst/>
            <a:cxnLst/>
            <a:rect l="l" t="t" r="r" b="b"/>
            <a:pathLst>
              <a:path w="12703611" h="12691989">
                <a:moveTo>
                  <a:pt x="0" y="0"/>
                </a:moveTo>
                <a:lnTo>
                  <a:pt x="12703611" y="0"/>
                </a:lnTo>
                <a:lnTo>
                  <a:pt x="12703611" y="12691988"/>
                </a:lnTo>
                <a:lnTo>
                  <a:pt x="0" y="126919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-321706" y="2935499"/>
            <a:ext cx="18931411" cy="9101640"/>
            <a:chOff x="0" y="0"/>
            <a:chExt cx="660400" cy="317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317500"/>
            </a:xfrm>
            <a:custGeom>
              <a:avLst/>
              <a:gdLst/>
              <a:ahLst/>
              <a:cxnLst/>
              <a:rect l="l" t="t" r="r" b="b"/>
              <a:pathLst>
                <a:path w="660400" h="3175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2F415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31750"/>
              <a:ext cx="660400" cy="285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795531" y="998553"/>
            <a:ext cx="1697766" cy="1697766"/>
          </a:xfrm>
          <a:custGeom>
            <a:avLst/>
            <a:gdLst/>
            <a:ahLst/>
            <a:cxnLst/>
            <a:rect l="l" t="t" r="r" b="b"/>
            <a:pathLst>
              <a:path w="1697766" h="1697766">
                <a:moveTo>
                  <a:pt x="0" y="0"/>
                </a:moveTo>
                <a:lnTo>
                  <a:pt x="1697766" y="0"/>
                </a:lnTo>
                <a:lnTo>
                  <a:pt x="1697766" y="1697766"/>
                </a:lnTo>
                <a:lnTo>
                  <a:pt x="0" y="1697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923855" y="998553"/>
            <a:ext cx="1697766" cy="1697766"/>
          </a:xfrm>
          <a:custGeom>
            <a:avLst/>
            <a:gdLst/>
            <a:ahLst/>
            <a:cxnLst/>
            <a:rect l="l" t="t" r="r" b="b"/>
            <a:pathLst>
              <a:path w="1697766" h="1697766">
                <a:moveTo>
                  <a:pt x="0" y="0"/>
                </a:moveTo>
                <a:lnTo>
                  <a:pt x="1697766" y="0"/>
                </a:lnTo>
                <a:lnTo>
                  <a:pt x="1697766" y="1697766"/>
                </a:lnTo>
                <a:lnTo>
                  <a:pt x="0" y="16977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7568366" y="1627460"/>
            <a:ext cx="1203264" cy="1203264"/>
          </a:xfrm>
          <a:custGeom>
            <a:avLst/>
            <a:gdLst/>
            <a:ahLst/>
            <a:cxnLst/>
            <a:rect l="l" t="t" r="r" b="b"/>
            <a:pathLst>
              <a:path w="1203264" h="1203264">
                <a:moveTo>
                  <a:pt x="0" y="0"/>
                </a:moveTo>
                <a:lnTo>
                  <a:pt x="1203265" y="0"/>
                </a:lnTo>
                <a:lnTo>
                  <a:pt x="1203265" y="1203264"/>
                </a:lnTo>
                <a:lnTo>
                  <a:pt x="0" y="1203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-601632" y="2401327"/>
            <a:ext cx="1203264" cy="1203264"/>
          </a:xfrm>
          <a:custGeom>
            <a:avLst/>
            <a:gdLst/>
            <a:ahLst/>
            <a:cxnLst/>
            <a:rect l="l" t="t" r="r" b="b"/>
            <a:pathLst>
              <a:path w="1203264" h="1203264">
                <a:moveTo>
                  <a:pt x="0" y="0"/>
                </a:moveTo>
                <a:lnTo>
                  <a:pt x="1203264" y="0"/>
                </a:lnTo>
                <a:lnTo>
                  <a:pt x="1203264" y="1203264"/>
                </a:lnTo>
                <a:lnTo>
                  <a:pt x="0" y="12032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770807" y="4823053"/>
            <a:ext cx="10746385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Growing youth employment gap despite similar qualifications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92819" y="873367"/>
            <a:ext cx="8311404" cy="13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Problem Statement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04120" y="7426909"/>
            <a:ext cx="10746385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Skills often don’t match market needs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67208" y="5434084"/>
            <a:ext cx="10746385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Equal skills → unequal job opportunities and earnings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98029" y="6121349"/>
            <a:ext cx="10746385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Not enough data on how skills affect employability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35738" y="6736029"/>
            <a:ext cx="10746385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High youth unemployment with unclear root causes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21981" y="8041589"/>
            <a:ext cx="10746385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Limited career guidance for youth</a:t>
            </a:r>
          </a:p>
        </p:txBody>
      </p:sp>
      <p:pic>
        <p:nvPicPr>
          <p:cNvPr id="20" name="Picture 19" descr="A logo with a globe and a graduation cap&#10;&#10;AI-generated content may be incorrect.">
            <a:extLst>
              <a:ext uri="{FF2B5EF4-FFF2-40B4-BE49-F238E27FC236}">
                <a16:creationId xmlns:a16="http://schemas.microsoft.com/office/drawing/2014/main" id="{BCA39381-2BE5-CA2F-AFED-D9799E957A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823498" cy="14065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BA4DEE9-10F8-3ACE-E5B6-C057D3E4C0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40200" y="-20562"/>
            <a:ext cx="1447800" cy="14271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90799" y="6743699"/>
            <a:ext cx="4339244" cy="4114800"/>
          </a:xfrm>
          <a:custGeom>
            <a:avLst/>
            <a:gdLst/>
            <a:ahLst/>
            <a:cxnLst/>
            <a:rect l="l" t="t" r="r" b="b"/>
            <a:pathLst>
              <a:path w="4339244" h="4114800">
                <a:moveTo>
                  <a:pt x="0" y="0"/>
                </a:moveTo>
                <a:lnTo>
                  <a:pt x="4339243" y="0"/>
                </a:lnTo>
                <a:lnTo>
                  <a:pt x="43392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244173" y="-512043"/>
            <a:ext cx="4339244" cy="4114800"/>
          </a:xfrm>
          <a:custGeom>
            <a:avLst/>
            <a:gdLst/>
            <a:ahLst/>
            <a:cxnLst/>
            <a:rect l="l" t="t" r="r" b="b"/>
            <a:pathLst>
              <a:path w="4339244" h="4114800">
                <a:moveTo>
                  <a:pt x="4339243" y="0"/>
                </a:moveTo>
                <a:lnTo>
                  <a:pt x="0" y="0"/>
                </a:lnTo>
                <a:lnTo>
                  <a:pt x="0" y="4114800"/>
                </a:lnTo>
                <a:lnTo>
                  <a:pt x="4339243" y="4114800"/>
                </a:lnTo>
                <a:lnTo>
                  <a:pt x="433924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413794" y="9258300"/>
            <a:ext cx="4387287" cy="1881049"/>
          </a:xfrm>
          <a:custGeom>
            <a:avLst/>
            <a:gdLst/>
            <a:ahLst/>
            <a:cxnLst/>
            <a:rect l="l" t="t" r="r" b="b"/>
            <a:pathLst>
              <a:path w="4387287" h="1881049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0972670" y="-852349"/>
            <a:ext cx="4387287" cy="1881049"/>
          </a:xfrm>
          <a:custGeom>
            <a:avLst/>
            <a:gdLst/>
            <a:ahLst/>
            <a:cxnLst/>
            <a:rect l="l" t="t" r="r" b="b"/>
            <a:pathLst>
              <a:path w="4387287" h="1881049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4607438" y="1489701"/>
            <a:ext cx="8163410" cy="13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Proposed Solution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2637" y="3311340"/>
            <a:ext cx="15941787" cy="701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We built a data-driven model to identify what truly drives youth employability by: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Data Collection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         Collecting real data from young individuals.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Key Factors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        Looked at key factors: education, languages, training, courses, work status, income.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Pattern Analysis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        Found patterns behind hiring and salary differences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Qualification Impact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        Identified which qualifications matter most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Career Insights</a:t>
            </a:r>
          </a:p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2F4156"/>
                </a:solidFill>
                <a:latin typeface="Cloud"/>
                <a:ea typeface="Cloud"/>
                <a:cs typeface="Cloud"/>
                <a:sym typeface="Cloud"/>
              </a:rPr>
              <a:t>       Provided clear insights to help youth make better career decisions</a:t>
            </a:r>
          </a:p>
          <a:p>
            <a:pPr algn="just">
              <a:lnSpc>
                <a:spcPts val="3919"/>
              </a:lnSpc>
            </a:pPr>
            <a:endParaRPr lang="en-US" sz="2799">
              <a:solidFill>
                <a:srgbClr val="2F4156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919"/>
              </a:lnSpc>
            </a:pPr>
            <a:endParaRPr lang="en-US" sz="2799">
              <a:solidFill>
                <a:srgbClr val="2F4156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2F4156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D8F99B-E518-E9B6-6373-107FA465E8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40200" y="-20562"/>
            <a:ext cx="1447800" cy="1427117"/>
          </a:xfrm>
          <a:prstGeom prst="rect">
            <a:avLst/>
          </a:prstGeom>
        </p:spPr>
      </p:pic>
      <p:pic>
        <p:nvPicPr>
          <p:cNvPr id="9" name="Picture 8" descr="A logo with a globe and a graduation cap&#10;&#10;AI-generated content may be incorrect.">
            <a:extLst>
              <a:ext uri="{FF2B5EF4-FFF2-40B4-BE49-F238E27FC236}">
                <a16:creationId xmlns:a16="http://schemas.microsoft.com/office/drawing/2014/main" id="{D5DE92B6-EBB8-156F-3CAA-B1A9D1B40A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823498" cy="14065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99808" y="-422828"/>
            <a:ext cx="6902127" cy="4998345"/>
          </a:xfrm>
          <a:custGeom>
            <a:avLst/>
            <a:gdLst/>
            <a:ahLst/>
            <a:cxnLst/>
            <a:rect l="l" t="t" r="r" b="b"/>
            <a:pathLst>
              <a:path w="6902127" h="4998345">
                <a:moveTo>
                  <a:pt x="0" y="0"/>
                </a:moveTo>
                <a:lnTo>
                  <a:pt x="6902126" y="0"/>
                </a:lnTo>
                <a:lnTo>
                  <a:pt x="6902126" y="4998345"/>
                </a:lnTo>
                <a:lnTo>
                  <a:pt x="0" y="49983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1328605" y="1880721"/>
            <a:ext cx="3644823" cy="8568022"/>
            <a:chOff x="0" y="0"/>
            <a:chExt cx="443055" cy="104150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3055" cy="1041507"/>
            </a:xfrm>
            <a:custGeom>
              <a:avLst/>
              <a:gdLst/>
              <a:ahLst/>
              <a:cxnLst/>
              <a:rect l="l" t="t" r="r" b="b"/>
              <a:pathLst>
                <a:path w="443055" h="1041507">
                  <a:moveTo>
                    <a:pt x="443055" y="0"/>
                  </a:moveTo>
                  <a:lnTo>
                    <a:pt x="443055" y="927207"/>
                  </a:lnTo>
                  <a:lnTo>
                    <a:pt x="221528" y="1041507"/>
                  </a:lnTo>
                  <a:lnTo>
                    <a:pt x="0" y="927207"/>
                  </a:lnTo>
                  <a:lnTo>
                    <a:pt x="0" y="0"/>
                  </a:lnTo>
                  <a:lnTo>
                    <a:pt x="443055" y="0"/>
                  </a:lnTo>
                  <a:close/>
                </a:path>
              </a:pathLst>
            </a:custGeom>
            <a:solidFill>
              <a:srgbClr val="2F415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43055" cy="974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V="1">
            <a:off x="14230472" y="6529567"/>
            <a:ext cx="4402996" cy="4114800"/>
          </a:xfrm>
          <a:custGeom>
            <a:avLst/>
            <a:gdLst/>
            <a:ahLst/>
            <a:cxnLst/>
            <a:rect l="l" t="t" r="r" b="b"/>
            <a:pathLst>
              <a:path w="4402996" h="4114800">
                <a:moveTo>
                  <a:pt x="0" y="4114800"/>
                </a:moveTo>
                <a:lnTo>
                  <a:pt x="4402996" y="4114800"/>
                </a:lnTo>
                <a:lnTo>
                  <a:pt x="440299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6948944" y="4775542"/>
            <a:ext cx="4429888" cy="3957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Lorem ipsum dolor sit amet, consectetur adipiscing elit. Ut tincidunt sapien sit amet tellus facilisis malesuada. Sed augue sapien, pellentesque ac sodales vitae, tempus luctus augue.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3905" y="2925064"/>
            <a:ext cx="3275239" cy="2679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9"/>
              </a:lnSpc>
              <a:spcBef>
                <a:spcPct val="0"/>
              </a:spcBef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The data collection phase was the most difficult part, as we aimed to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gather real data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 to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address a real problem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02318" y="-23483"/>
            <a:ext cx="6932640" cy="2193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1"/>
              </a:lnSpc>
            </a:pPr>
            <a:r>
              <a:rPr lang="en-US" sz="6858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System Design</a:t>
            </a:r>
          </a:p>
          <a:p>
            <a:pPr algn="ctr">
              <a:lnSpc>
                <a:spcPts val="6661"/>
              </a:lnSpc>
            </a:pPr>
            <a:r>
              <a:rPr lang="en-US" sz="4758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Modules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09800" y="1457453"/>
            <a:ext cx="1779823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5"/>
              </a:lnSpc>
              <a:spcBef>
                <a:spcPct val="0"/>
              </a:spcBef>
            </a:pPr>
            <a:r>
              <a:rPr lang="en-US" sz="2596" b="1" dirty="0">
                <a:solidFill>
                  <a:srgbClr val="415873"/>
                </a:solidFill>
                <a:latin typeface="Cloud Bold"/>
                <a:ea typeface="Cloud Bold"/>
                <a:cs typeface="Cloud Bold"/>
                <a:sym typeface="Cloud Bold"/>
              </a:rPr>
              <a:t>Collection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72067" y="2045380"/>
            <a:ext cx="1670353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5"/>
              </a:lnSpc>
              <a:spcBef>
                <a:spcPct val="0"/>
              </a:spcBef>
            </a:pPr>
            <a:r>
              <a:rPr lang="en-US" sz="2596" b="1" dirty="0">
                <a:solidFill>
                  <a:srgbClr val="415873"/>
                </a:solidFill>
                <a:latin typeface="Cloud Bold"/>
                <a:ea typeface="Cloud Bold"/>
                <a:cs typeface="Cloud Bold"/>
                <a:sym typeface="Cloud Bold"/>
              </a:rPr>
              <a:t>Cleaning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63600" y="2503846"/>
            <a:ext cx="1633678" cy="4783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5"/>
              </a:lnSpc>
              <a:spcBef>
                <a:spcPct val="0"/>
              </a:spcBef>
            </a:pPr>
            <a:r>
              <a:rPr lang="en-US" sz="2596" b="1" dirty="0">
                <a:solidFill>
                  <a:srgbClr val="415873"/>
                </a:solidFill>
                <a:latin typeface="Cloud Bold"/>
                <a:ea typeface="Cloud Bold"/>
                <a:cs typeface="Cloud Bold"/>
                <a:sym typeface="Cloud Bold"/>
              </a:rPr>
              <a:t>Storage</a:t>
            </a:r>
          </a:p>
        </p:txBody>
      </p:sp>
      <p:grpSp>
        <p:nvGrpSpPr>
          <p:cNvPr id="13" name="Group 13"/>
          <p:cNvGrpSpPr/>
          <p:nvPr/>
        </p:nvGrpSpPr>
        <p:grpSpPr>
          <a:xfrm rot="-10800000">
            <a:off x="6884833" y="2503846"/>
            <a:ext cx="3644823" cy="8568022"/>
            <a:chOff x="0" y="0"/>
            <a:chExt cx="443055" cy="104150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3055" cy="1041507"/>
            </a:xfrm>
            <a:custGeom>
              <a:avLst/>
              <a:gdLst/>
              <a:ahLst/>
              <a:cxnLst/>
              <a:rect l="l" t="t" r="r" b="b"/>
              <a:pathLst>
                <a:path w="443055" h="1041507">
                  <a:moveTo>
                    <a:pt x="443055" y="0"/>
                  </a:moveTo>
                  <a:lnTo>
                    <a:pt x="443055" y="927207"/>
                  </a:lnTo>
                  <a:lnTo>
                    <a:pt x="221528" y="1041507"/>
                  </a:lnTo>
                  <a:lnTo>
                    <a:pt x="0" y="927207"/>
                  </a:lnTo>
                  <a:lnTo>
                    <a:pt x="0" y="0"/>
                  </a:lnTo>
                  <a:lnTo>
                    <a:pt x="443055" y="0"/>
                  </a:lnTo>
                  <a:close/>
                </a:path>
              </a:pathLst>
            </a:custGeom>
            <a:solidFill>
              <a:srgbClr val="2F415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443055" cy="974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10800000">
            <a:off x="12534959" y="3162277"/>
            <a:ext cx="3644823" cy="8568022"/>
            <a:chOff x="0" y="0"/>
            <a:chExt cx="443055" cy="104150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3055" cy="1041507"/>
            </a:xfrm>
            <a:custGeom>
              <a:avLst/>
              <a:gdLst/>
              <a:ahLst/>
              <a:cxnLst/>
              <a:rect l="l" t="t" r="r" b="b"/>
              <a:pathLst>
                <a:path w="443055" h="1041507">
                  <a:moveTo>
                    <a:pt x="443055" y="0"/>
                  </a:moveTo>
                  <a:lnTo>
                    <a:pt x="443055" y="927207"/>
                  </a:lnTo>
                  <a:lnTo>
                    <a:pt x="221528" y="1041507"/>
                  </a:lnTo>
                  <a:lnTo>
                    <a:pt x="0" y="927207"/>
                  </a:lnTo>
                  <a:lnTo>
                    <a:pt x="0" y="0"/>
                  </a:lnTo>
                  <a:lnTo>
                    <a:pt x="443055" y="0"/>
                  </a:lnTo>
                  <a:close/>
                </a:path>
              </a:pathLst>
            </a:custGeom>
            <a:solidFill>
              <a:srgbClr val="2F415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43055" cy="974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463905" y="5854294"/>
            <a:ext cx="3392382" cy="3126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9"/>
              </a:lnSpc>
              <a:spcBef>
                <a:spcPct val="0"/>
              </a:spcBef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To support meaningful analysis, we collected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372 records 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from individuals with diverse backgrounds, ensuring a broad and representative dataset.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69625" y="3488454"/>
            <a:ext cx="3275239" cy="7155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9"/>
              </a:lnSpc>
              <a:spcBef>
                <a:spcPct val="0"/>
              </a:spcBef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The data cleaning process went beyond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basic Excel (Power Query) operations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. We cleaned the data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multiple 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times using a combination of manual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Excel 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edits, Power Query transformations,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Power BI processing, and SQL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 structuring to ensure a high-quality, accurate, and reliable dataset for analysis.</a:t>
            </a: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2719751" y="4060482"/>
            <a:ext cx="3275239" cy="6260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9"/>
              </a:lnSpc>
              <a:spcBef>
                <a:spcPct val="0"/>
              </a:spcBef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In this phase, we used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SQL(MSSQL) 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as our database to securely store the cleaned data. We created custom views to simplify the analysis and made additional refinements to the dataset, ensuring it was well-structured and ready for modeling.</a:t>
            </a: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278AC92-92EB-ACFB-4A56-D6C9FC80D5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40200" y="-20562"/>
            <a:ext cx="1447800" cy="1427117"/>
          </a:xfrm>
          <a:prstGeom prst="rect">
            <a:avLst/>
          </a:prstGeom>
        </p:spPr>
      </p:pic>
      <p:pic>
        <p:nvPicPr>
          <p:cNvPr id="23" name="Picture 22" descr="A logo with a globe and a graduation cap&#10;&#10;AI-generated content may be incorrect.">
            <a:extLst>
              <a:ext uri="{FF2B5EF4-FFF2-40B4-BE49-F238E27FC236}">
                <a16:creationId xmlns:a16="http://schemas.microsoft.com/office/drawing/2014/main" id="{C06A7C75-E6B4-A324-8EC0-F4A2F91CBA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823498" cy="14065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99808" y="-422828"/>
            <a:ext cx="6902127" cy="4998345"/>
          </a:xfrm>
          <a:custGeom>
            <a:avLst/>
            <a:gdLst/>
            <a:ahLst/>
            <a:cxnLst/>
            <a:rect l="l" t="t" r="r" b="b"/>
            <a:pathLst>
              <a:path w="6902127" h="4998345">
                <a:moveTo>
                  <a:pt x="0" y="0"/>
                </a:moveTo>
                <a:lnTo>
                  <a:pt x="6902126" y="0"/>
                </a:lnTo>
                <a:lnTo>
                  <a:pt x="6902126" y="4998345"/>
                </a:lnTo>
                <a:lnTo>
                  <a:pt x="0" y="49983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328843" y="1407108"/>
            <a:ext cx="3644823" cy="9237259"/>
            <a:chOff x="0" y="0"/>
            <a:chExt cx="443055" cy="11228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3055" cy="1122858"/>
            </a:xfrm>
            <a:custGeom>
              <a:avLst/>
              <a:gdLst/>
              <a:ahLst/>
              <a:cxnLst/>
              <a:rect l="l" t="t" r="r" b="b"/>
              <a:pathLst>
                <a:path w="443055" h="1122858">
                  <a:moveTo>
                    <a:pt x="443055" y="0"/>
                  </a:moveTo>
                  <a:lnTo>
                    <a:pt x="443055" y="1008558"/>
                  </a:lnTo>
                  <a:lnTo>
                    <a:pt x="221528" y="1122858"/>
                  </a:lnTo>
                  <a:lnTo>
                    <a:pt x="0" y="1008558"/>
                  </a:lnTo>
                  <a:lnTo>
                    <a:pt x="0" y="0"/>
                  </a:lnTo>
                  <a:lnTo>
                    <a:pt x="443055" y="0"/>
                  </a:lnTo>
                  <a:close/>
                </a:path>
              </a:pathLst>
            </a:custGeom>
            <a:solidFill>
              <a:srgbClr val="2F415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43055" cy="10561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V="1">
            <a:off x="14230472" y="6529567"/>
            <a:ext cx="4402996" cy="4114800"/>
          </a:xfrm>
          <a:custGeom>
            <a:avLst/>
            <a:gdLst/>
            <a:ahLst/>
            <a:cxnLst/>
            <a:rect l="l" t="t" r="r" b="b"/>
            <a:pathLst>
              <a:path w="4402996" h="4114800">
                <a:moveTo>
                  <a:pt x="0" y="4114800"/>
                </a:moveTo>
                <a:lnTo>
                  <a:pt x="4402996" y="4114800"/>
                </a:lnTo>
                <a:lnTo>
                  <a:pt x="4402996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13635" y="2272894"/>
            <a:ext cx="3275239" cy="6708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9"/>
              </a:lnSpc>
              <a:spcBef>
                <a:spcPct val="0"/>
              </a:spcBef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In the analysis phase, we used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Power BI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 to build our data models. We created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measures 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and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calculated columns 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while ensuring the correct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relationships 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between tables and views. This approach allowed us to perform accurate and reliable analyses based on the structured dataset.</a:t>
            </a: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602318" y="-23483"/>
            <a:ext cx="6932640" cy="2193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1"/>
              </a:lnSpc>
            </a:pPr>
            <a:r>
              <a:rPr lang="en-US" sz="6858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System Design</a:t>
            </a:r>
          </a:p>
          <a:p>
            <a:pPr algn="ctr">
              <a:lnSpc>
                <a:spcPts val="6661"/>
              </a:lnSpc>
            </a:pPr>
            <a:r>
              <a:rPr lang="en-US" sz="4758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Modules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724479" y="1327355"/>
            <a:ext cx="1506489" cy="471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5"/>
              </a:lnSpc>
              <a:spcBef>
                <a:spcPct val="0"/>
              </a:spcBef>
            </a:pPr>
            <a:r>
              <a:rPr lang="en-US" sz="2596" b="1" dirty="0">
                <a:solidFill>
                  <a:srgbClr val="415873"/>
                </a:solidFill>
                <a:latin typeface="Cloud Bold"/>
                <a:ea typeface="Cloud Bold"/>
                <a:cs typeface="Cloud Bold"/>
                <a:sym typeface="Cloud Bold"/>
              </a:rPr>
              <a:t>Reporting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99985" y="3243924"/>
            <a:ext cx="1557695" cy="457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5"/>
              </a:lnSpc>
              <a:spcBef>
                <a:spcPct val="0"/>
              </a:spcBef>
            </a:pPr>
            <a:r>
              <a:rPr lang="en-US" sz="2596" b="1" dirty="0">
                <a:solidFill>
                  <a:srgbClr val="415873"/>
                </a:solidFill>
                <a:latin typeface="Cloud Bold"/>
                <a:ea typeface="Cloud Bold"/>
                <a:cs typeface="Cloud Bold"/>
                <a:sym typeface="Cloud Bold"/>
              </a:rPr>
              <a:t>Publishing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185414" y="3872519"/>
            <a:ext cx="1622941" cy="457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5"/>
              </a:lnSpc>
              <a:spcBef>
                <a:spcPct val="0"/>
              </a:spcBef>
            </a:pPr>
            <a:r>
              <a:rPr lang="en-US" sz="2596" b="1" dirty="0">
                <a:solidFill>
                  <a:srgbClr val="415873"/>
                </a:solidFill>
                <a:latin typeface="Cloud Bold"/>
                <a:ea typeface="Cloud Bold"/>
                <a:cs typeface="Cloud Bold"/>
                <a:sym typeface="Cloud Bold"/>
              </a:rPr>
              <a:t>AI support</a:t>
            </a:r>
          </a:p>
        </p:txBody>
      </p:sp>
      <p:grpSp>
        <p:nvGrpSpPr>
          <p:cNvPr id="13" name="Group 13"/>
          <p:cNvGrpSpPr/>
          <p:nvPr/>
        </p:nvGrpSpPr>
        <p:grpSpPr>
          <a:xfrm rot="-10800000">
            <a:off x="4630433" y="1880721"/>
            <a:ext cx="3644823" cy="8568022"/>
            <a:chOff x="0" y="0"/>
            <a:chExt cx="443055" cy="104150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3055" cy="1041507"/>
            </a:xfrm>
            <a:custGeom>
              <a:avLst/>
              <a:gdLst/>
              <a:ahLst/>
              <a:cxnLst/>
              <a:rect l="l" t="t" r="r" b="b"/>
              <a:pathLst>
                <a:path w="443055" h="1041507">
                  <a:moveTo>
                    <a:pt x="443055" y="0"/>
                  </a:moveTo>
                  <a:lnTo>
                    <a:pt x="443055" y="927207"/>
                  </a:lnTo>
                  <a:lnTo>
                    <a:pt x="221528" y="1041507"/>
                  </a:lnTo>
                  <a:lnTo>
                    <a:pt x="0" y="927207"/>
                  </a:lnTo>
                  <a:lnTo>
                    <a:pt x="0" y="0"/>
                  </a:lnTo>
                  <a:lnTo>
                    <a:pt x="443055" y="0"/>
                  </a:lnTo>
                  <a:close/>
                </a:path>
              </a:pathLst>
            </a:custGeom>
            <a:solidFill>
              <a:srgbClr val="2F415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443055" cy="974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10800000">
            <a:off x="9556421" y="3922009"/>
            <a:ext cx="3644823" cy="8568022"/>
            <a:chOff x="0" y="0"/>
            <a:chExt cx="443055" cy="104150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3055" cy="1041507"/>
            </a:xfrm>
            <a:custGeom>
              <a:avLst/>
              <a:gdLst/>
              <a:ahLst/>
              <a:cxnLst/>
              <a:rect l="l" t="t" r="r" b="b"/>
              <a:pathLst>
                <a:path w="443055" h="1041507">
                  <a:moveTo>
                    <a:pt x="443055" y="0"/>
                  </a:moveTo>
                  <a:lnTo>
                    <a:pt x="443055" y="927207"/>
                  </a:lnTo>
                  <a:lnTo>
                    <a:pt x="221528" y="1041507"/>
                  </a:lnTo>
                  <a:lnTo>
                    <a:pt x="0" y="927207"/>
                  </a:lnTo>
                  <a:lnTo>
                    <a:pt x="0" y="0"/>
                  </a:lnTo>
                  <a:lnTo>
                    <a:pt x="443055" y="0"/>
                  </a:lnTo>
                  <a:close/>
                </a:path>
              </a:pathLst>
            </a:custGeom>
            <a:solidFill>
              <a:srgbClr val="2F415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43055" cy="974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422371" y="865689"/>
            <a:ext cx="148312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5"/>
              </a:lnSpc>
              <a:spcBef>
                <a:spcPct val="0"/>
              </a:spcBef>
            </a:pPr>
            <a:r>
              <a:rPr lang="en-US" sz="2596" b="1" dirty="0">
                <a:solidFill>
                  <a:srgbClr val="415873"/>
                </a:solidFill>
                <a:latin typeface="Cloud Bold"/>
                <a:ea typeface="Cloud Bold"/>
                <a:cs typeface="Cloud Bold"/>
                <a:sym typeface="Cloud Bold"/>
              </a:rPr>
              <a:t>Analysis</a:t>
            </a:r>
          </a:p>
        </p:txBody>
      </p:sp>
      <p:grpSp>
        <p:nvGrpSpPr>
          <p:cNvPr id="20" name="Group 20"/>
          <p:cNvGrpSpPr/>
          <p:nvPr/>
        </p:nvGrpSpPr>
        <p:grpSpPr>
          <a:xfrm rot="-10800000">
            <a:off x="14204314" y="4890169"/>
            <a:ext cx="3644823" cy="8568022"/>
            <a:chOff x="0" y="0"/>
            <a:chExt cx="443055" cy="104150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43055" cy="1041507"/>
            </a:xfrm>
            <a:custGeom>
              <a:avLst/>
              <a:gdLst/>
              <a:ahLst/>
              <a:cxnLst/>
              <a:rect l="l" t="t" r="r" b="b"/>
              <a:pathLst>
                <a:path w="443055" h="1041507">
                  <a:moveTo>
                    <a:pt x="443055" y="0"/>
                  </a:moveTo>
                  <a:lnTo>
                    <a:pt x="443055" y="927207"/>
                  </a:lnTo>
                  <a:lnTo>
                    <a:pt x="221528" y="1041507"/>
                  </a:lnTo>
                  <a:lnTo>
                    <a:pt x="0" y="927207"/>
                  </a:lnTo>
                  <a:lnTo>
                    <a:pt x="0" y="0"/>
                  </a:lnTo>
                  <a:lnTo>
                    <a:pt x="443055" y="0"/>
                  </a:lnTo>
                  <a:close/>
                </a:path>
              </a:pathLst>
            </a:custGeom>
            <a:solidFill>
              <a:srgbClr val="2F415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443055" cy="9748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4815225" y="2639239"/>
            <a:ext cx="3275239" cy="939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9"/>
              </a:lnSpc>
              <a:spcBef>
                <a:spcPct val="0"/>
              </a:spcBef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In the reporting phase, we used Power BI to build interactive dashboards showing insights from the data. We added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tooltips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,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bookmarks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, and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filters to make them easier to use and excluded outliers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 to ensure accuracy. The dashboards highlight key patterns, trends, and findings, helping to interpret results and support data-driven decisions.</a:t>
            </a: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741213" y="4785067"/>
            <a:ext cx="3275239" cy="6260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9"/>
              </a:lnSpc>
              <a:spcBef>
                <a:spcPct val="0"/>
              </a:spcBef>
            </a:pPr>
            <a:r>
              <a:rPr lang="en-US" sz="2521" dirty="0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We published our dashboards on </a:t>
            </a:r>
            <a:r>
              <a:rPr lang="en-US" sz="2521" b="1" dirty="0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Power BI Service</a:t>
            </a:r>
            <a:r>
              <a:rPr lang="en-US" sz="2521" dirty="0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 for easy access and sharing. In addition, we created a </a:t>
            </a:r>
            <a:r>
              <a:rPr lang="en-US" sz="2521" b="1" dirty="0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website </a:t>
            </a:r>
            <a:r>
              <a:rPr lang="en-US" sz="2521" dirty="0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to host and showcase the dashboards, making the insights widely available.</a:t>
            </a:r>
          </a:p>
          <a:p>
            <a:pPr algn="ctr">
              <a:lnSpc>
                <a:spcPts val="3529"/>
              </a:lnSpc>
              <a:spcBef>
                <a:spcPct val="0"/>
              </a:spcBef>
            </a:pPr>
            <a:r>
              <a:rPr lang="en-US" sz="2521" dirty="0">
                <a:solidFill>
                  <a:schemeClr val="bg1"/>
                </a:solidFill>
                <a:latin typeface="Cloud"/>
                <a:ea typeface="Cloud"/>
                <a:cs typeface="Cloud"/>
                <a:sym typeface="Clou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Website</a:t>
            </a:r>
            <a:endParaRPr lang="en-US" sz="2521" dirty="0">
              <a:solidFill>
                <a:schemeClr val="bg1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 dirty="0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 dirty="0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 dirty="0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4357371" y="5598438"/>
            <a:ext cx="3275239" cy="5812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9"/>
              </a:lnSpc>
              <a:spcBef>
                <a:spcPct val="0"/>
              </a:spcBef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We integrated an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AI chatbot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 to answer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questions 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about the collected data. The chatbot is connected to the dashboard on the website, providing real-time guidance and insights to users.</a:t>
            </a: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346B7E0-4DF5-350C-742F-F36E88818C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40200" y="-20562"/>
            <a:ext cx="1447800" cy="1427117"/>
          </a:xfrm>
          <a:prstGeom prst="rect">
            <a:avLst/>
          </a:prstGeom>
        </p:spPr>
      </p:pic>
      <p:pic>
        <p:nvPicPr>
          <p:cNvPr id="27" name="Picture 26" descr="A logo with a globe and a graduation cap&#10;&#10;AI-generated content may be incorrect.">
            <a:extLst>
              <a:ext uri="{FF2B5EF4-FFF2-40B4-BE49-F238E27FC236}">
                <a16:creationId xmlns:a16="http://schemas.microsoft.com/office/drawing/2014/main" id="{0C9B1617-9EF6-A976-CD82-B0FFA3700B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823498" cy="14065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99808" y="-422828"/>
            <a:ext cx="6902127" cy="4998345"/>
          </a:xfrm>
          <a:custGeom>
            <a:avLst/>
            <a:gdLst/>
            <a:ahLst/>
            <a:cxnLst/>
            <a:rect l="l" t="t" r="r" b="b"/>
            <a:pathLst>
              <a:path w="6902127" h="4998345">
                <a:moveTo>
                  <a:pt x="0" y="0"/>
                </a:moveTo>
                <a:lnTo>
                  <a:pt x="6902126" y="0"/>
                </a:lnTo>
                <a:lnTo>
                  <a:pt x="6902126" y="4998345"/>
                </a:lnTo>
                <a:lnTo>
                  <a:pt x="0" y="49983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V="1">
            <a:off x="14716316" y="6983610"/>
            <a:ext cx="3917152" cy="3660757"/>
          </a:xfrm>
          <a:custGeom>
            <a:avLst/>
            <a:gdLst/>
            <a:ahLst/>
            <a:cxnLst/>
            <a:rect l="l" t="t" r="r" b="b"/>
            <a:pathLst>
              <a:path w="3917152" h="3660757">
                <a:moveTo>
                  <a:pt x="0" y="3660757"/>
                </a:moveTo>
                <a:lnTo>
                  <a:pt x="3917152" y="3660757"/>
                </a:lnTo>
                <a:lnTo>
                  <a:pt x="3917152" y="0"/>
                </a:lnTo>
                <a:lnTo>
                  <a:pt x="0" y="0"/>
                </a:lnTo>
                <a:lnTo>
                  <a:pt x="0" y="366075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494198" y="231775"/>
            <a:ext cx="9299605" cy="13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The Dashboard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5" name="Add-in 4">
                <a:extLst>
                  <a:ext uri="{FF2B5EF4-FFF2-40B4-BE49-F238E27FC236}">
                    <a16:creationId xmlns:a16="http://schemas.microsoft.com/office/drawing/2014/main" id="{C9E80E01-1E54-5D98-EFBB-6D8B45D8D46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6459934"/>
                  </p:ext>
                </p:extLst>
              </p:nvPr>
            </p:nvGraphicFramePr>
            <p:xfrm>
              <a:off x="457200" y="1406555"/>
              <a:ext cx="17297400" cy="864867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6"/>
              </a:graphicData>
            </a:graphic>
          </p:graphicFrame>
        </mc:Choice>
        <mc:Fallback>
          <p:pic>
            <p:nvPicPr>
              <p:cNvPr id="5" name="Add-in 4">
                <a:extLst>
                  <a:ext uri="{FF2B5EF4-FFF2-40B4-BE49-F238E27FC236}">
                    <a16:creationId xmlns:a16="http://schemas.microsoft.com/office/drawing/2014/main" id="{C9E80E01-1E54-5D98-EFBB-6D8B45D8D46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7200" y="1406555"/>
                <a:ext cx="17297400" cy="864867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27CD6D8-387B-D773-6A99-121E822938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40200" y="-20562"/>
            <a:ext cx="1447800" cy="1427117"/>
          </a:xfrm>
          <a:prstGeom prst="rect">
            <a:avLst/>
          </a:prstGeom>
        </p:spPr>
      </p:pic>
      <p:pic>
        <p:nvPicPr>
          <p:cNvPr id="7" name="Picture 6" descr="A logo with a globe and a graduation cap&#10;&#10;AI-generated content may be incorrect.">
            <a:extLst>
              <a:ext uri="{FF2B5EF4-FFF2-40B4-BE49-F238E27FC236}">
                <a16:creationId xmlns:a16="http://schemas.microsoft.com/office/drawing/2014/main" id="{B1BA074E-AB40-8DA8-405F-FB1797EE9CB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823498" cy="14065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357" y="6933889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343061" y="6752914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204004" y="6571939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064946" y="7105339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925889" y="6924364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457052" y="1252186"/>
            <a:ext cx="4047467" cy="4114800"/>
          </a:xfrm>
          <a:custGeom>
            <a:avLst/>
            <a:gdLst/>
            <a:ahLst/>
            <a:cxnLst/>
            <a:rect l="l" t="t" r="r" b="b"/>
            <a:pathLst>
              <a:path w="4047467" h="4114800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310633" y="1252186"/>
            <a:ext cx="7307388" cy="7307388"/>
          </a:xfrm>
          <a:custGeom>
            <a:avLst/>
            <a:gdLst/>
            <a:ahLst/>
            <a:cxnLst/>
            <a:rect l="l" t="t" r="r" b="b"/>
            <a:pathLst>
              <a:path w="7307388" h="7307388">
                <a:moveTo>
                  <a:pt x="0" y="0"/>
                </a:moveTo>
                <a:lnTo>
                  <a:pt x="7307388" y="0"/>
                </a:lnTo>
                <a:lnTo>
                  <a:pt x="7307388" y="7307388"/>
                </a:lnTo>
                <a:lnTo>
                  <a:pt x="0" y="7307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96056" y="2198008"/>
            <a:ext cx="7609081" cy="5890984"/>
            <a:chOff x="0" y="0"/>
            <a:chExt cx="906744" cy="7020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06744" cy="702005"/>
            </a:xfrm>
            <a:custGeom>
              <a:avLst/>
              <a:gdLst/>
              <a:ahLst/>
              <a:cxnLst/>
              <a:rect l="l" t="t" r="r" b="b"/>
              <a:pathLst>
                <a:path w="906744" h="702005">
                  <a:moveTo>
                    <a:pt x="0" y="0"/>
                  </a:moveTo>
                  <a:lnTo>
                    <a:pt x="906744" y="0"/>
                  </a:lnTo>
                  <a:lnTo>
                    <a:pt x="906744" y="702005"/>
                  </a:lnTo>
                  <a:lnTo>
                    <a:pt x="0" y="702005"/>
                  </a:lnTo>
                  <a:close/>
                </a:path>
              </a:pathLst>
            </a:custGeom>
            <a:solidFill>
              <a:srgbClr val="2F415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906744" cy="797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3793802" y="-1859151"/>
            <a:ext cx="4047467" cy="4114800"/>
          </a:xfrm>
          <a:custGeom>
            <a:avLst/>
            <a:gdLst/>
            <a:ahLst/>
            <a:cxnLst/>
            <a:rect l="l" t="t" r="r" b="b"/>
            <a:pathLst>
              <a:path w="4047467" h="4114800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1064946" y="4776159"/>
            <a:ext cx="5868638" cy="1976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Age &amp; Employment: The majority of employed individuals are over 30.</a:t>
            </a: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endParaRPr lang="en-US" sz="2799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494198" y="880711"/>
            <a:ext cx="9299605" cy="13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Key Insights</a:t>
            </a:r>
          </a:p>
        </p:txBody>
      </p:sp>
      <p:sp>
        <p:nvSpPr>
          <p:cNvPr id="15" name="Freeform 15"/>
          <p:cNvSpPr/>
          <p:nvPr/>
        </p:nvSpPr>
        <p:spPr>
          <a:xfrm>
            <a:off x="10345571" y="3658894"/>
            <a:ext cx="7307388" cy="7307388"/>
          </a:xfrm>
          <a:custGeom>
            <a:avLst/>
            <a:gdLst/>
            <a:ahLst/>
            <a:cxnLst/>
            <a:rect l="l" t="t" r="r" b="b"/>
            <a:pathLst>
              <a:path w="7307388" h="7307388">
                <a:moveTo>
                  <a:pt x="0" y="0"/>
                </a:moveTo>
                <a:lnTo>
                  <a:pt x="7307388" y="0"/>
                </a:lnTo>
                <a:lnTo>
                  <a:pt x="7307388" y="7307388"/>
                </a:lnTo>
                <a:lnTo>
                  <a:pt x="0" y="7307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371995" y="2327572"/>
            <a:ext cx="6832009" cy="6708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4313" lvl="1" indent="-272156" algn="just">
              <a:lnSpc>
                <a:spcPts val="3529"/>
              </a:lnSpc>
              <a:buFont typeface="Arial"/>
              <a:buChar char="•"/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Age &amp; Employment: The majority of employed individuals are over 30.</a:t>
            </a:r>
          </a:p>
          <a:p>
            <a:pPr marL="544313" lvl="1" indent="-272156" algn="just">
              <a:lnSpc>
                <a:spcPts val="3529"/>
              </a:lnSpc>
              <a:buFont typeface="Arial"/>
              <a:buChar char="•"/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Sector Diversity: People working in multiple sectors (government, freelancing, online/remote work) tend to be the most employed.</a:t>
            </a:r>
          </a:p>
          <a:p>
            <a:pPr marL="544313" lvl="1" indent="-272156" algn="just">
              <a:lnSpc>
                <a:spcPts val="3529"/>
              </a:lnSpc>
              <a:buFont typeface="Arial"/>
              <a:buChar char="•"/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Barriers to Employment: The lack of soft skills is the main reason for not being accepted in jobs.</a:t>
            </a:r>
          </a:p>
          <a:p>
            <a:pPr marL="544313" lvl="1" indent="-272156" algn="just">
              <a:lnSpc>
                <a:spcPts val="3529"/>
              </a:lnSpc>
              <a:spcBef>
                <a:spcPct val="0"/>
              </a:spcBef>
              <a:buFont typeface="Arial"/>
              <a:buChar char="•"/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Language Skills: The German language course had the highest job placement rate, with 45% of participants finding jobs.</a:t>
            </a: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0194725" y="3988397"/>
            <a:ext cx="7609081" cy="5890984"/>
            <a:chOff x="0" y="0"/>
            <a:chExt cx="906744" cy="7020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06744" cy="702005"/>
            </a:xfrm>
            <a:custGeom>
              <a:avLst/>
              <a:gdLst/>
              <a:ahLst/>
              <a:cxnLst/>
              <a:rect l="l" t="t" r="r" b="b"/>
              <a:pathLst>
                <a:path w="906744" h="702005">
                  <a:moveTo>
                    <a:pt x="0" y="0"/>
                  </a:moveTo>
                  <a:lnTo>
                    <a:pt x="906744" y="0"/>
                  </a:lnTo>
                  <a:lnTo>
                    <a:pt x="906744" y="702005"/>
                  </a:lnTo>
                  <a:lnTo>
                    <a:pt x="0" y="702005"/>
                  </a:lnTo>
                  <a:close/>
                </a:path>
              </a:pathLst>
            </a:custGeom>
            <a:solidFill>
              <a:srgbClr val="2F415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0"/>
              <a:ext cx="906744" cy="797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082318" y="4172318"/>
            <a:ext cx="7422968" cy="6260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4313" lvl="1" indent="-272156" algn="just">
              <a:lnSpc>
                <a:spcPts val="3529"/>
              </a:lnSpc>
              <a:buFont typeface="Arial"/>
              <a:buChar char="•"/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Salary Insights: The expected salary among youth is slightly higher than reality, with an expected average of 14.46k compared to the actual average of 12.21k.</a:t>
            </a:r>
          </a:p>
          <a:p>
            <a:pPr marL="544313" lvl="1" indent="-272156" algn="just">
              <a:lnSpc>
                <a:spcPts val="3529"/>
              </a:lnSpc>
              <a:buFont typeface="Arial"/>
              <a:buChar char="•"/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Courses &amp; Job Outcomes:</a:t>
            </a:r>
          </a:p>
          <a:p>
            <a:pPr marL="544313" lvl="1" indent="-272156" algn="just">
              <a:lnSpc>
                <a:spcPts val="3529"/>
              </a:lnSpc>
              <a:buAutoNum type="arabicPeriod"/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 31% of people who took courses found   jobs.</a:t>
            </a:r>
          </a:p>
          <a:p>
            <a:pPr marL="544313" lvl="1" indent="-272156" algn="just">
              <a:lnSpc>
                <a:spcPts val="3529"/>
              </a:lnSpc>
              <a:buAutoNum type="arabicPeriod"/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Medical courses had the highest job placement among course types.</a:t>
            </a:r>
          </a:p>
          <a:p>
            <a:pPr marL="544313" lvl="1" indent="-272156" algn="just">
              <a:lnSpc>
                <a:spcPts val="3529"/>
              </a:lnSpc>
              <a:buAutoNum type="arabicPeriod"/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Online courses were the most effective, with 54% of participants finding jobs.</a:t>
            </a: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0A2108F-36DA-A065-DEC1-17B28400F9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40200" y="-20562"/>
            <a:ext cx="1447800" cy="1427117"/>
          </a:xfrm>
          <a:prstGeom prst="rect">
            <a:avLst/>
          </a:prstGeom>
        </p:spPr>
      </p:pic>
      <p:pic>
        <p:nvPicPr>
          <p:cNvPr id="22" name="Picture 21" descr="A logo with a globe and a graduation cap&#10;&#10;AI-generated content may be incorrect.">
            <a:extLst>
              <a:ext uri="{FF2B5EF4-FFF2-40B4-BE49-F238E27FC236}">
                <a16:creationId xmlns:a16="http://schemas.microsoft.com/office/drawing/2014/main" id="{71D1B8A2-B253-6DF5-7EEA-F374A51E7E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823498" cy="14065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08357" y="6933889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343061" y="6752914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204004" y="6571939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2" y="0"/>
                </a:lnTo>
                <a:lnTo>
                  <a:pt x="3860942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064946" y="7105339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925889" y="6924364"/>
            <a:ext cx="3860943" cy="3860943"/>
          </a:xfrm>
          <a:custGeom>
            <a:avLst/>
            <a:gdLst/>
            <a:ahLst/>
            <a:cxnLst/>
            <a:rect l="l" t="t" r="r" b="b"/>
            <a:pathLst>
              <a:path w="3860943" h="3860943">
                <a:moveTo>
                  <a:pt x="0" y="0"/>
                </a:moveTo>
                <a:lnTo>
                  <a:pt x="3860943" y="0"/>
                </a:lnTo>
                <a:lnTo>
                  <a:pt x="3860943" y="3860943"/>
                </a:lnTo>
                <a:lnTo>
                  <a:pt x="0" y="38609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457052" y="1252186"/>
            <a:ext cx="4047467" cy="4114800"/>
          </a:xfrm>
          <a:custGeom>
            <a:avLst/>
            <a:gdLst/>
            <a:ahLst/>
            <a:cxnLst/>
            <a:rect l="l" t="t" r="r" b="b"/>
            <a:pathLst>
              <a:path w="4047467" h="4114800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5273532" y="2716030"/>
            <a:ext cx="7897826" cy="7897826"/>
          </a:xfrm>
          <a:custGeom>
            <a:avLst/>
            <a:gdLst/>
            <a:ahLst/>
            <a:cxnLst/>
            <a:rect l="l" t="t" r="r" b="b"/>
            <a:pathLst>
              <a:path w="7897826" h="7897826">
                <a:moveTo>
                  <a:pt x="0" y="0"/>
                </a:moveTo>
                <a:lnTo>
                  <a:pt x="7897827" y="0"/>
                </a:lnTo>
                <a:lnTo>
                  <a:pt x="7897827" y="7897827"/>
                </a:lnTo>
                <a:lnTo>
                  <a:pt x="0" y="78978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3221086" y="3390495"/>
            <a:ext cx="12002720" cy="6362888"/>
            <a:chOff x="0" y="0"/>
            <a:chExt cx="1430317" cy="7582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0317" cy="758240"/>
            </a:xfrm>
            <a:custGeom>
              <a:avLst/>
              <a:gdLst/>
              <a:ahLst/>
              <a:cxnLst/>
              <a:rect l="l" t="t" r="r" b="b"/>
              <a:pathLst>
                <a:path w="1430317" h="758240">
                  <a:moveTo>
                    <a:pt x="0" y="0"/>
                  </a:moveTo>
                  <a:lnTo>
                    <a:pt x="1430317" y="0"/>
                  </a:lnTo>
                  <a:lnTo>
                    <a:pt x="1430317" y="758240"/>
                  </a:lnTo>
                  <a:lnTo>
                    <a:pt x="0" y="758240"/>
                  </a:lnTo>
                  <a:close/>
                </a:path>
              </a:pathLst>
            </a:custGeom>
            <a:solidFill>
              <a:srgbClr val="2F415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1430317" cy="853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3793802" y="-1859151"/>
            <a:ext cx="4047467" cy="4114800"/>
          </a:xfrm>
          <a:custGeom>
            <a:avLst/>
            <a:gdLst/>
            <a:ahLst/>
            <a:cxnLst/>
            <a:rect l="l" t="t" r="r" b="b"/>
            <a:pathLst>
              <a:path w="4047467" h="4114800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3352586" y="196691"/>
            <a:ext cx="12330158" cy="256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Project Features &amp; Challenges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221086" y="3636919"/>
            <a:ext cx="11704803" cy="5386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44313" lvl="1" indent="-272156" algn="just">
              <a:lnSpc>
                <a:spcPts val="3529"/>
              </a:lnSpc>
              <a:buFont typeface="Arial"/>
              <a:buChar char="•"/>
            </a:pPr>
            <a:r>
              <a:rPr lang="en-US" sz="2521" dirty="0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Data Storage Challenge: Storing the data in MSSQL was difficult, as we had to convert all the sheets into flat files, which took considerable time to figure out and implement.</a:t>
            </a:r>
          </a:p>
          <a:p>
            <a:pPr marL="544313" lvl="1" indent="-272156" algn="just">
              <a:lnSpc>
                <a:spcPts val="3529"/>
              </a:lnSpc>
              <a:buFont typeface="Arial"/>
              <a:buChar char="•"/>
            </a:pPr>
            <a:r>
              <a:rPr lang="en-US" sz="2521" dirty="0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Building a model from scratch gave poor accuracy due to limited dataset and no strong GPU.</a:t>
            </a:r>
          </a:p>
          <a:p>
            <a:pPr marL="544313" lvl="1" indent="-272156" algn="just">
              <a:lnSpc>
                <a:spcPts val="3529"/>
              </a:lnSpc>
              <a:buFont typeface="Arial"/>
              <a:buChar char="•"/>
            </a:pPr>
            <a:r>
              <a:rPr lang="en-US" sz="2521" dirty="0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 We decided to use a pre-trained model (GPT-4) for better performance, despite its token limits.</a:t>
            </a:r>
          </a:p>
          <a:p>
            <a:pPr marL="544313" lvl="1" indent="-272156" algn="just">
              <a:lnSpc>
                <a:spcPts val="3529"/>
              </a:lnSpc>
              <a:buFont typeface="Arial"/>
              <a:buChar char="•"/>
            </a:pPr>
            <a:r>
              <a:rPr lang="en-US" sz="2521" dirty="0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 Our dataset was mixed in Arabic and English, so we translated everything to English for better model compatibility.</a:t>
            </a:r>
          </a:p>
          <a:p>
            <a:pPr marL="544313" lvl="1" indent="-272156" algn="just">
              <a:lnSpc>
                <a:spcPts val="3529"/>
              </a:lnSpc>
              <a:buFont typeface="Arial"/>
              <a:buChar char="•"/>
            </a:pPr>
            <a:r>
              <a:rPr lang="en-US" sz="2521" dirty="0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 We created a custom knowledge base from our data and connected it to the model to enable accurate analytical responses.</a:t>
            </a:r>
          </a:p>
          <a:p>
            <a:pPr algn="just">
              <a:lnSpc>
                <a:spcPts val="3529"/>
              </a:lnSpc>
            </a:pPr>
            <a:r>
              <a:rPr lang="en-US" sz="2521" dirty="0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          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5384061-6B56-82B9-0885-032A4740E6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40200" y="-20562"/>
            <a:ext cx="1447800" cy="1427117"/>
          </a:xfrm>
          <a:prstGeom prst="rect">
            <a:avLst/>
          </a:prstGeom>
        </p:spPr>
      </p:pic>
      <p:pic>
        <p:nvPicPr>
          <p:cNvPr id="16" name="Picture 15" descr="A logo with a globe and a graduation cap&#10;&#10;AI-generated content may be incorrect.">
            <a:extLst>
              <a:ext uri="{FF2B5EF4-FFF2-40B4-BE49-F238E27FC236}">
                <a16:creationId xmlns:a16="http://schemas.microsoft.com/office/drawing/2014/main" id="{E9B70D92-D272-5FDF-A6AA-4FD16413E4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1823498" cy="14065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>
            <a:off x="14590867" y="-791896"/>
            <a:ext cx="6878351" cy="6878351"/>
          </a:xfrm>
          <a:custGeom>
            <a:avLst/>
            <a:gdLst/>
            <a:ahLst/>
            <a:cxnLst/>
            <a:rect l="l" t="t" r="r" b="b"/>
            <a:pathLst>
              <a:path w="6878351" h="6878351">
                <a:moveTo>
                  <a:pt x="0" y="0"/>
                </a:moveTo>
                <a:lnTo>
                  <a:pt x="6878351" y="0"/>
                </a:lnTo>
                <a:lnTo>
                  <a:pt x="6878351" y="6878352"/>
                </a:lnTo>
                <a:lnTo>
                  <a:pt x="0" y="68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2700000">
            <a:off x="-3195003" y="4071833"/>
            <a:ext cx="6878351" cy="6878351"/>
          </a:xfrm>
          <a:custGeom>
            <a:avLst/>
            <a:gdLst/>
            <a:ahLst/>
            <a:cxnLst/>
            <a:rect l="l" t="t" r="r" b="b"/>
            <a:pathLst>
              <a:path w="6878351" h="6878351">
                <a:moveTo>
                  <a:pt x="0" y="0"/>
                </a:moveTo>
                <a:lnTo>
                  <a:pt x="6878351" y="0"/>
                </a:lnTo>
                <a:lnTo>
                  <a:pt x="6878351" y="6878352"/>
                </a:lnTo>
                <a:lnTo>
                  <a:pt x="0" y="6878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-3908252" y="3602757"/>
            <a:ext cx="7816504" cy="781650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296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382512" y="-1260972"/>
            <a:ext cx="7816504" cy="781650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7296B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9700" y="44450"/>
              <a:ext cx="533400" cy="628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690799" y="6743699"/>
            <a:ext cx="4339244" cy="4114800"/>
          </a:xfrm>
          <a:custGeom>
            <a:avLst/>
            <a:gdLst/>
            <a:ahLst/>
            <a:cxnLst/>
            <a:rect l="l" t="t" r="r" b="b"/>
            <a:pathLst>
              <a:path w="4339244" h="4114800">
                <a:moveTo>
                  <a:pt x="0" y="0"/>
                </a:moveTo>
                <a:lnTo>
                  <a:pt x="4339243" y="0"/>
                </a:lnTo>
                <a:lnTo>
                  <a:pt x="43392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H="1">
            <a:off x="244173" y="-512043"/>
            <a:ext cx="4339244" cy="4114800"/>
          </a:xfrm>
          <a:custGeom>
            <a:avLst/>
            <a:gdLst/>
            <a:ahLst/>
            <a:cxnLst/>
            <a:rect l="l" t="t" r="r" b="b"/>
            <a:pathLst>
              <a:path w="4339244" h="4114800">
                <a:moveTo>
                  <a:pt x="4339243" y="0"/>
                </a:moveTo>
                <a:lnTo>
                  <a:pt x="0" y="0"/>
                </a:lnTo>
                <a:lnTo>
                  <a:pt x="0" y="4114800"/>
                </a:lnTo>
                <a:lnTo>
                  <a:pt x="4339243" y="4114800"/>
                </a:lnTo>
                <a:lnTo>
                  <a:pt x="4339243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2413794" y="9258300"/>
            <a:ext cx="4387287" cy="1881049"/>
          </a:xfrm>
          <a:custGeom>
            <a:avLst/>
            <a:gdLst/>
            <a:ahLst/>
            <a:cxnLst/>
            <a:rect l="l" t="t" r="r" b="b"/>
            <a:pathLst>
              <a:path w="4387287" h="1881049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972670" y="-852349"/>
            <a:ext cx="4387287" cy="1881049"/>
          </a:xfrm>
          <a:custGeom>
            <a:avLst/>
            <a:gdLst/>
            <a:ahLst/>
            <a:cxnLst/>
            <a:rect l="l" t="t" r="r" b="b"/>
            <a:pathLst>
              <a:path w="4387287" h="1881049">
                <a:moveTo>
                  <a:pt x="0" y="0"/>
                </a:moveTo>
                <a:lnTo>
                  <a:pt x="4387287" y="0"/>
                </a:lnTo>
                <a:lnTo>
                  <a:pt x="4387287" y="1881049"/>
                </a:lnTo>
                <a:lnTo>
                  <a:pt x="0" y="1881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5203709" y="1404081"/>
            <a:ext cx="7883347" cy="13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Conclusion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028700" y="3106630"/>
            <a:ext cx="4607445" cy="6897804"/>
            <a:chOff x="0" y="0"/>
            <a:chExt cx="549051" cy="82198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9051" cy="821984"/>
            </a:xfrm>
            <a:custGeom>
              <a:avLst/>
              <a:gdLst/>
              <a:ahLst/>
              <a:cxnLst/>
              <a:rect l="l" t="t" r="r" b="b"/>
              <a:pathLst>
                <a:path w="549051" h="821984">
                  <a:moveTo>
                    <a:pt x="0" y="0"/>
                  </a:moveTo>
                  <a:lnTo>
                    <a:pt x="549051" y="0"/>
                  </a:lnTo>
                  <a:lnTo>
                    <a:pt x="549051" y="821984"/>
                  </a:lnTo>
                  <a:lnTo>
                    <a:pt x="0" y="821984"/>
                  </a:lnTo>
                  <a:close/>
                </a:path>
              </a:pathLst>
            </a:custGeom>
            <a:solidFill>
              <a:srgbClr val="2F415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549051" cy="9172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631066" y="3106630"/>
            <a:ext cx="4709277" cy="6897804"/>
            <a:chOff x="0" y="0"/>
            <a:chExt cx="561186" cy="82198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61186" cy="821984"/>
            </a:xfrm>
            <a:custGeom>
              <a:avLst/>
              <a:gdLst/>
              <a:ahLst/>
              <a:cxnLst/>
              <a:rect l="l" t="t" r="r" b="b"/>
              <a:pathLst>
                <a:path w="561186" h="821984">
                  <a:moveTo>
                    <a:pt x="0" y="0"/>
                  </a:moveTo>
                  <a:lnTo>
                    <a:pt x="561186" y="0"/>
                  </a:lnTo>
                  <a:lnTo>
                    <a:pt x="561186" y="821984"/>
                  </a:lnTo>
                  <a:lnTo>
                    <a:pt x="0" y="821984"/>
                  </a:lnTo>
                  <a:close/>
                </a:path>
              </a:pathLst>
            </a:custGeom>
            <a:solidFill>
              <a:srgbClr val="2F415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561186" cy="9172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330943" y="3106630"/>
            <a:ext cx="4661177" cy="6897804"/>
            <a:chOff x="0" y="0"/>
            <a:chExt cx="555454" cy="82198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55454" cy="821984"/>
            </a:xfrm>
            <a:custGeom>
              <a:avLst/>
              <a:gdLst/>
              <a:ahLst/>
              <a:cxnLst/>
              <a:rect l="l" t="t" r="r" b="b"/>
              <a:pathLst>
                <a:path w="555454" h="821984">
                  <a:moveTo>
                    <a:pt x="0" y="0"/>
                  </a:moveTo>
                  <a:lnTo>
                    <a:pt x="555454" y="0"/>
                  </a:lnTo>
                  <a:lnTo>
                    <a:pt x="555454" y="821984"/>
                  </a:lnTo>
                  <a:lnTo>
                    <a:pt x="0" y="821984"/>
                  </a:lnTo>
                  <a:close/>
                </a:path>
              </a:pathLst>
            </a:custGeom>
            <a:solidFill>
              <a:srgbClr val="2F415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555454" cy="9172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-786744" y="2263872"/>
            <a:ext cx="7883347" cy="77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Summary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44031" y="2295737"/>
            <a:ext cx="7883347" cy="77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Learnings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98626" y="2333837"/>
            <a:ext cx="7883347" cy="772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2F4156"/>
                </a:solidFill>
                <a:latin typeface="Clarendon Narrow Bold"/>
                <a:ea typeface="Clarendon Narrow Bold"/>
                <a:cs typeface="Clarendon Narrow Bold"/>
                <a:sym typeface="Clarendon Narrow Bold"/>
              </a:rPr>
              <a:t>Future work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14943" y="3361005"/>
            <a:ext cx="4249298" cy="6708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4313" lvl="1" indent="-272156" algn="just">
              <a:lnSpc>
                <a:spcPts val="3529"/>
              </a:lnSpc>
              <a:buFont typeface="Arial"/>
              <a:buChar char="•"/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Identified the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main factors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 driving youth employment using real data</a:t>
            </a:r>
          </a:p>
          <a:p>
            <a:pPr algn="just">
              <a:lnSpc>
                <a:spcPts val="3529"/>
              </a:lnSpc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marL="544313" lvl="1" indent="-272156" algn="just">
              <a:lnSpc>
                <a:spcPts val="3529"/>
              </a:lnSpc>
              <a:buFont typeface="Arial"/>
              <a:buChar char="•"/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Created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dashboards and an AI chatbot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 to provide clear career guidance</a:t>
            </a: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631066" y="3403462"/>
            <a:ext cx="4369247" cy="4917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4313" lvl="1" indent="-272156" algn="just">
              <a:lnSpc>
                <a:spcPts val="3529"/>
              </a:lnSpc>
              <a:buFont typeface="Arial"/>
              <a:buChar char="•"/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Data Skills: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Cleaned 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and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analyzed 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complex datasets</a:t>
            </a:r>
          </a:p>
          <a:p>
            <a:pPr algn="just">
              <a:lnSpc>
                <a:spcPts val="3529"/>
              </a:lnSpc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algn="just">
              <a:lnSpc>
                <a:spcPts val="3529"/>
              </a:lnSpc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marL="544313" lvl="1" indent="-272156" algn="just">
              <a:lnSpc>
                <a:spcPts val="3529"/>
              </a:lnSpc>
              <a:buFont typeface="Arial"/>
              <a:buChar char="•"/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Visualization: Showed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patterns 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and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gaps 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clearly</a:t>
            </a:r>
          </a:p>
          <a:p>
            <a:pPr algn="just">
              <a:lnSpc>
                <a:spcPts val="3529"/>
              </a:lnSpc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marL="544313" lvl="1" indent="-272156" algn="just">
              <a:lnSpc>
                <a:spcPts val="3529"/>
              </a:lnSpc>
              <a:spcBef>
                <a:spcPct val="0"/>
              </a:spcBef>
              <a:buFont typeface="Arial"/>
              <a:buChar char="•"/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Teamwork: Coordinated, solved problems, and leveraged team strengths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330943" y="3361005"/>
            <a:ext cx="4507637" cy="6260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4313" lvl="1" indent="-272156" algn="just">
              <a:lnSpc>
                <a:spcPts val="3529"/>
              </a:lnSpc>
              <a:buFont typeface="Arial"/>
              <a:buChar char="•"/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Expand Dataset: Include more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regional 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and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demographic diversity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 to improve representativeness</a:t>
            </a:r>
          </a:p>
          <a:p>
            <a:pPr algn="just">
              <a:lnSpc>
                <a:spcPts val="3529"/>
              </a:lnSpc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marL="544313" lvl="1" indent="-272156" algn="just">
              <a:lnSpc>
                <a:spcPts val="3529"/>
              </a:lnSpc>
              <a:buFont typeface="Arial"/>
              <a:buChar char="•"/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Add Predictive Analytics: Forecast job opportunities, employment trends, and income patterns</a:t>
            </a:r>
          </a:p>
          <a:p>
            <a:pPr algn="just">
              <a:lnSpc>
                <a:spcPts val="3529"/>
              </a:lnSpc>
            </a:pPr>
            <a:endParaRPr lang="en-US" sz="2521">
              <a:solidFill>
                <a:srgbClr val="F5EFEB"/>
              </a:solidFill>
              <a:latin typeface="Cloud"/>
              <a:ea typeface="Cloud"/>
              <a:cs typeface="Cloud"/>
              <a:sym typeface="Cloud"/>
            </a:endParaRPr>
          </a:p>
          <a:p>
            <a:pPr marL="544313" lvl="1" indent="-272156" algn="just">
              <a:lnSpc>
                <a:spcPts val="3529"/>
              </a:lnSpc>
              <a:spcBef>
                <a:spcPct val="0"/>
              </a:spcBef>
              <a:buFont typeface="Arial"/>
              <a:buChar char="•"/>
            </a:pP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Enhance AI Chatbot: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Provide</a:t>
            </a:r>
            <a:r>
              <a:rPr lang="en-US" sz="2521">
                <a:solidFill>
                  <a:srgbClr val="F5EFEB"/>
                </a:solidFill>
                <a:latin typeface="Cloud"/>
                <a:ea typeface="Cloud"/>
                <a:cs typeface="Cloud"/>
                <a:sym typeface="Cloud"/>
              </a:rPr>
              <a:t> </a:t>
            </a:r>
            <a:r>
              <a:rPr lang="en-US" sz="2521" b="1">
                <a:solidFill>
                  <a:srgbClr val="F5EFEB"/>
                </a:solidFill>
                <a:latin typeface="Cloud Bold"/>
                <a:ea typeface="Cloud Bold"/>
                <a:cs typeface="Cloud Bold"/>
                <a:sym typeface="Cloud Bold"/>
              </a:rPr>
              <a:t>personalized.</a:t>
            </a:r>
          </a:p>
          <a:p>
            <a:pPr algn="just">
              <a:lnSpc>
                <a:spcPts val="3529"/>
              </a:lnSpc>
              <a:spcBef>
                <a:spcPct val="0"/>
              </a:spcBef>
            </a:pPr>
            <a:endParaRPr lang="en-US" sz="2521" b="1">
              <a:solidFill>
                <a:srgbClr val="F5EFEB"/>
              </a:solidFill>
              <a:latin typeface="Cloud Bold"/>
              <a:ea typeface="Cloud Bold"/>
              <a:cs typeface="Cloud Bold"/>
              <a:sym typeface="Cloud Bold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4BAEBD2-A921-CF44-B3CB-C74F777267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40200" y="-20562"/>
            <a:ext cx="1447800" cy="1427117"/>
          </a:xfrm>
          <a:prstGeom prst="rect">
            <a:avLst/>
          </a:prstGeom>
        </p:spPr>
      </p:pic>
      <p:pic>
        <p:nvPicPr>
          <p:cNvPr id="32" name="Picture 31" descr="A logo with a globe and a graduation cap&#10;&#10;AI-generated content may be incorrect.">
            <a:extLst>
              <a:ext uri="{FF2B5EF4-FFF2-40B4-BE49-F238E27FC236}">
                <a16:creationId xmlns:a16="http://schemas.microsoft.com/office/drawing/2014/main" id="{D1C865AD-BF89-8413-63CE-97F762DC7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823498" cy="14065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F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699198" y="6651515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093484" y="-383408"/>
            <a:ext cx="11067650" cy="11053816"/>
          </a:xfrm>
          <a:custGeom>
            <a:avLst/>
            <a:gdLst/>
            <a:ahLst/>
            <a:cxnLst/>
            <a:rect l="l" t="t" r="r" b="b"/>
            <a:pathLst>
              <a:path w="11067650" h="11053816">
                <a:moveTo>
                  <a:pt x="0" y="0"/>
                </a:moveTo>
                <a:lnTo>
                  <a:pt x="11067651" y="0"/>
                </a:lnTo>
                <a:lnTo>
                  <a:pt x="11067651" y="11053816"/>
                </a:lnTo>
                <a:lnTo>
                  <a:pt x="0" y="110538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 rot="5400000">
            <a:off x="7857602" y="-1836977"/>
            <a:ext cx="11343275" cy="13960954"/>
            <a:chOff x="0" y="0"/>
            <a:chExt cx="6604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0400" cy="812800"/>
            </a:xfrm>
            <a:custGeom>
              <a:avLst/>
              <a:gdLst/>
              <a:ahLst/>
              <a:cxnLst/>
              <a:rect l="l" t="t" r="r" b="b"/>
              <a:pathLst>
                <a:path w="660400" h="8128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2F415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0"/>
              <a:ext cx="660400" cy="781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35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333092" y="-383408"/>
            <a:ext cx="5426576" cy="4676722"/>
          </a:xfrm>
          <a:custGeom>
            <a:avLst/>
            <a:gdLst/>
            <a:ahLst/>
            <a:cxnLst/>
            <a:rect l="l" t="t" r="r" b="b"/>
            <a:pathLst>
              <a:path w="5426576" h="4676722">
                <a:moveTo>
                  <a:pt x="0" y="0"/>
                </a:moveTo>
                <a:lnTo>
                  <a:pt x="5426576" y="0"/>
                </a:lnTo>
                <a:lnTo>
                  <a:pt x="5426576" y="4676722"/>
                </a:lnTo>
                <a:lnTo>
                  <a:pt x="0" y="46767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 flipV="1">
            <a:off x="204154" y="7647498"/>
            <a:ext cx="2176042" cy="2427633"/>
          </a:xfrm>
          <a:custGeom>
            <a:avLst/>
            <a:gdLst/>
            <a:ahLst/>
            <a:cxnLst/>
            <a:rect l="l" t="t" r="r" b="b"/>
            <a:pathLst>
              <a:path w="2176042" h="2427633">
                <a:moveTo>
                  <a:pt x="2176042" y="2427634"/>
                </a:moveTo>
                <a:lnTo>
                  <a:pt x="0" y="2427634"/>
                </a:lnTo>
                <a:lnTo>
                  <a:pt x="0" y="0"/>
                </a:lnTo>
                <a:lnTo>
                  <a:pt x="2176042" y="0"/>
                </a:lnTo>
                <a:lnTo>
                  <a:pt x="2176042" y="2427634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7072145" y="3411592"/>
            <a:ext cx="9612372" cy="367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87"/>
              </a:lnSpc>
            </a:pPr>
            <a:r>
              <a:rPr lang="en-US" sz="14926">
                <a:solidFill>
                  <a:srgbClr val="F5EFEB"/>
                </a:solidFill>
                <a:latin typeface="Clarendon Narrow"/>
                <a:ea typeface="Clarendon Narrow"/>
                <a:cs typeface="Clarendon Narrow"/>
                <a:sym typeface="Clarendon Narrow"/>
              </a:rPr>
              <a:t>THANK YOU!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9E3993-EA9D-6438-2CDC-6D7ECE8D47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94733" y="0"/>
            <a:ext cx="1447800" cy="1427117"/>
          </a:xfrm>
          <a:prstGeom prst="rect">
            <a:avLst/>
          </a:prstGeom>
        </p:spPr>
      </p:pic>
      <p:pic>
        <p:nvPicPr>
          <p:cNvPr id="11" name="Picture 10" descr="A logo with a globe and a graduation cap&#10;&#10;AI-generated content may be incorrect.">
            <a:extLst>
              <a:ext uri="{FF2B5EF4-FFF2-40B4-BE49-F238E27FC236}">
                <a16:creationId xmlns:a16="http://schemas.microsoft.com/office/drawing/2014/main" id="{FC5FC0FF-B54C-51A7-BB8A-ED492C7BB8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20562"/>
            <a:ext cx="1823498" cy="14065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webextension1.xml><?xml version="1.0" encoding="utf-8"?>
<we:webextension xmlns:we="http://schemas.microsoft.com/office/webextensions/webextension/2010/11" id="{A25E8820-8DCC-4A43-926A-167E5FB81538}">
  <we:reference id="wa200003233" version="2.0.0.3" store="en-US" storeType="OMEX"/>
  <we:alternateReferences>
    <we:reference id="WA200003233" version="2.0.0.3" store="WA200003233" storeType="OMEX"/>
  </we:alternateReferences>
  <we:properties>
    <we:property name="artifactViewState" value="&quot;live&quot;"/>
    <we:property name="backgroundColor" value="&quot;#FFFFFF&quot;"/>
    <we:property name="bookmark" value="&quot;H4sIAAAAAAAAA+Va247cxhH9lQFfZAODpLvZV71ZKyl3Z6E1lIdYCKovnKXEJQckR/ZG2IfEumz8E34IDNkCHMOQjED+Es7fpHhZSR6tZqSZ3WgWXmCWZHXzdHXV6Sp2kfcin1bTDA4/hoMQXY6uFMWdAyjvjFQ0jvJeZkjiEqEE0dQ5oFJYZrG1mNZpkVfR5XtRDeUk1DfTagZZC4TCv94aR5BluzBprxLIqjCOpqGsihyy9O+h74xNdTkLR+MofD7NihJayL0a6tDC3sXueI0q0F/FOCK4Or0b9oKre2niBCihlNDBeuqkN4xgt6rv0Gl2apcWuht+p8hrSHMcppVBrI00CRAbCIGYCWDQyqs0n2SDwi/v/eRw2hqn2gc8ojXsbRy2xTk6wukglk6Cc5LHFE+ZY86vi2UFU9QLHyvGCaE4GxmviyUJkVxKRgwxChQIrvS6WDg/xQQHEltNgjXKELIuVhwHHksbwAeuuQEhZVjbXspp4QzRxlP0oQPp6LpY1AoTG+sMeBajF3xMO72SNKsH2tjDa59PS2Q8roMe6yN/F3IXfNTRugxVz+J70Z8CVLOyA7j2s4a9Yla6cCMkXVNep/Uh4gzdq9EH7MOo1Wa3LHAJdW3Xi1nuf1/Y0W7AO5HGk9B12S8+2ykDLiCkGzkav9BpB0WTokwdzn1RrZ0imx3kb6vV1XBQTEqY7qeuWtSqeTy/P384P26en6LMLZQs9cE0DTv7UNY/dwNelD6UVw47E19Ny5P1z8YL+p67eY9unQQh7Hr7lTAzWLdX8ZzMeasjpNImEE61VhB4u46ZN+uSWzDPucLwEohjXljBDX8zuYdswITwidbGAdNeMMs9tEQ/lWY9UItz8ySUo9Oul8VBhzjknFazF+a45meuywIo7LUnrdX/sh9ax3bWzX1aDyb9uKhft/PvFmxfvb1X+otOp9Nc8QX+vmy+HeHF8aiTPGiezx813zdfRR05bkI267IfDvjHFOfeO6MTI0g+y7Ku4+nNl04g8Yig3QiI3475eISH+83XONTj5gdUAUnRtn6Hl0+bb/D/k0stckuSo26lbbLEXzrh3a3w5hC0PWHxLSLR3aL+BGwWLl4sulF89g6MPxOf96HJx5Bwk4jYg3BEBEsV+YXnyuVGfYBL98n8eP6vfqU/6df6/MH8y3U464t8Vv/y8ucGJu5pawxNdGKc5YTHARwhOl6ZBTHzaUekdpQIJQkzRIrNsqB7NQvu4FSrUP3tdmHfbx50i1ZF82EAeNb81Nrz8ggt+gx/P83vj+b/QMM+PKNMeL0MIWsDQzkeNd9h+DlufXZp2S3zfzb/xTz4fNT8Bw8/bnDfs24+f84z3BqOfj26gU9odcgOX0M8m2T7qq/XMfb7Tbg+9XlRv2uE3Z6ovzKsumxWIWmC7726LQF2md3PI8xuytJh95IQAdwaEkuFOxgfC9hgO/3RZFKGCZwEwWsbLMITQy7ObfcPneT6LB98Ktai9RlqerV3fJp7OMUXb6PvSsrvoy2Q8AOn9mpwd86E/u/JXy33xpGWjDrniZFWyZgoCnrJZvf/XjVpns4fXpCQub0J5qIG8+2pNg00HJ6MHQfplFPES6tVECHYrdjQnS0noPRbwIHlCb3tTLgyilnhFHWCMKnUhdpfXxRHLHOBFyHWSSCMaC5wA2gciBZ4rdcnUjhHqCUiMEJj4aRdjQWdAa7M6rqrkC5AcgqWWlRRG8s9ZUYFtSEk9QmVRCWW4nSD4lI6tyGkMDwGEnsPFjfR3HjceW8ICTRJrAtGc4dhigrGmd0QMlFBMm+N1MyAsCCpX/02cDmkEkQgDPqbax+M0cqsnnh60BLwdb9QCIQwSwixNBBnMECvy0RrBRBJ0cVMC80V9zG8ObAMFRCrkoS0OcFxivlBa83hTRWQ9/DgtDLaZGlV72WpC+VizDk1576oZ5xrxhWUg4mJJ0LroIQKYFfXonCdmzgo5hwNnlgDIM/FE2f5VmBr3HMGZW+ZJDFjglp0mvQxk2bTCBkH7azWXjISjDMsgPEraZAEzCdWCe6sEFyCFEqeBw2WVAI++LQvBnwaNf/Gnf/x/NGHo8GOx80PzdP2NdVo/gWKHuJJ8zX2edR8NdpmfpzLbLvC4XjxI5TflMVs2n+1YjxnDhIjFWX4lMGQXq08rX6beh/y4auZDuTl3KODUE66R6BiVldTcGEX8r5YPO21TkPXD70PuQ9+OO9K06dURruPdqKhxol//wMRPp/vLCQAAA==&quot;"/>
    <we:property name="creatorSessionId" value="&quot;a8e23257-7103-46e2-b8d4-43beafb942d9&quot;"/>
    <we:property name="creatorTenantId" value="&quot;a2c31985-cc3b-4e19-8fa2-59fa488f0c27&quot;"/>
    <we:property name="creatorUserId" value="&quot;10032002FDE3D03B&quot;"/>
    <we:property name="datasetId" value="&quot;f3cd490d-f206-44e7-8b79-7e60a146ed24&quot;"/>
    <we:property name="embedUrl" value="&quot;/reportEmbed?reportId=f9c0a6a6-b608-4de5-b2e8-e5c299189cb8&amp;groupId=cba9cbf2-2acf-460e-95c7-d19d2f7c5fe9&amp;w=2&amp;config=eyJjbHVzdGVyVXJsIjoiaHR0cHM6Ly9XQUJJLU5PUlRILUVVUk9QRS1yZWRpcmVjdC5hbmFseXNpcy53aW5kb3dzLm5ldCIsImVtYmVkRmVhdHVyZXMiOnsidXNhZ2VNZXRyaWNzVk5leHQiOnRydWV9fQ%3D%3D&amp;disableSensitivityBanner=true&amp;storytellingChangeViewModeShortcutKeys=true&quot;"/>
    <we:property name="initialStateBookmark" value="&quot;H4sIAAAAAAAAA+VaW2/cxhX+Kwu+OAEW7cxwrn6zZbkX17ZgBc5DYwRzOVzRpsgFyXWiGnpo44uSP5GHInBrIC0CuyicX8L9Nz0kV7azlnftXaleIQJWJM8MvzlzzjfncA75IAppNc7swQ27D9HF6HJR3Nu35b2BioZRPpPdvHnt+qVb1768cen6NoqLcZ0WeRVdfBDVthxBfTutJjZrEVD45zvDyGbZjh21V4nNKhhGYyirIrdZ+hfoO2NTXU7gcBjB1+OsKG0LuVvbGlrY+9gdr3Fs+psYR7S+Tu/DLvi6lyZeWCWUEhpcoF4Gwwh2q/oOnWYndmmhu+G3iry2aY7DtDIbayNNYokDQmzMhGW2lVdpPspmCr++97ODcWuVas/iEa3h7uKwLc7hIU4HsXQC3kseUzxlnvmwKpYTTNEgQqwYJ4TibGS8KpYkRHIpGTHEKKus4EqvioXzU0xwS2KnCTijDCGrYsUx8Fg6sAG45sYKKWFleymvhTdEm0DRh95KT1fFok6Y2DhvbGAxeiHEtNMrSbN6Rht3sP31uETG4zrosS6F+zb3EKKO1iVUPYsfRNfBVpOyA9j+RcNuMSk93IKka8rrtD5AnFn3avAJ+zRqtdkpC1xCXdvVYpKHPxZusAN4J9J4BF2XveKrrRJwASHdyOHwlU5bKBoVZepx7vNqbRXZZD9/X62uwH4xKu14L/XVvFbN0+nD6ePpUfPyBGXuoGShD8YpbO3Zsv6lG/CiDFBePuhMfCUtj9c/G87pe+bmPbxzHISw6903wszMur2KZ2TOOx0hlTZAONVaWeDtOmbBrEpuwQLnCsMLEM+CcIIb/m5yz9IAEyIkWhtvmQ6COR5sS/QTadYDtTi3j0M5Ou1qWex3iLNk02r2yhzbYeK7LIDCXnvSWv3zPWgd21k3D2k9M+mNon7bzn+Ys331/l7pLzqdTnLFN/j7rvnnAC+OBp3kUfNy+qT5d/N91JHjts0mXfbDAf+U4tx7Z3RiBMknWdZ1PLn5wjEkHhG0GwHx2zGfDvDwsPkBh3ra/IQqICna1h/x8nnzD/z/7EKL3JLksFtp6yzx1074cCu8OwRtTlh8j0h0v6g/sy6D8xeLbhVffQDjT8XnfWgKsU24SUQcrPBEgKOK/Mpz5WKjPsKl+2x6NP22X+nP+rU+fTT9bhXOhiKf1L++/LmGiXvaGkMTnRjvOOExWE+IjpdmQcx82hOpPSVCScIMkWK9LOjfzIJbONUKqi/vFu7j5kE/b1U0HwaAF83PrT0vDtCiL/D38/ThYPpXNOzjU8qEV0uArA0M5XDQ/Ijh56j12YVFt0z/1vwX8+DLQfMvPPxnjftedPO5mWe4NRz8dnALn9BqyA7eQjydZPumr1cx9sdNuCENeVF/aITdnKi/NKz6bFIhaSD0Xt2UALvI7mcRZtdl6Wz3khBhuTMklgp3MCEWdo3t9KXRqISRPQ6C22sswmNDzs9t51onuTrJZz4VK9H6FDW90js+zYM9wRfvo+9Syu+hLZDwM07t1tbfOxX6fyR/tdwbRloy6n0gRjolY6Ko1Qs2u//3qknzfPr4nITMzU0w5zWYb061aUbD2ZOx51Z65RUJ0mkFAsBtxIbudDlhy7ABHFic0NvOhCujmBNeUS8Ik0qdq/31eXHEIhcEAbFOgDCiucANoPFWtMArvT6RwntCHRHACI2Fl245lu0McHlS112FdA6SU+uoQxW1cTxQZhSoNSFpSKgkKnEUpwuKS+n9mpDC8NiSOATrcBPNTcCd95qQliaJ82A09ximqGCcuTUhEwWSBWekZsYKZyUNy98GLoZUggiEQX9zHcAYrczyiaf7LQHf9gu1QAhzhBBHgXiDAXpVJjonLJEUXcy00FzxENt3B5ZZBcSpJCFtTvCcYn7QWnP7rgrIR3hwWhptsrSqd7PUQzkfc07Mua/qGWeacQXl1sQkEKE1KKHAuuW1KFznJgbFvKcQiDPWyjPxxGm+FdgY95xC2VsmScyYoA6dJkPMpFk3QsagvdM6SEbAeMPAmrCUBglgPnFKcO+E4NJKoeRZ0GBBJeCTL/piwBdR83fc+R9Nn3w6mNnxqPmped6+phpMv0HRYzxpfsA+T5rvB5vMjzOZbVc4HM5/hPK7spiM+69WTODM28RIRRk+ZTCkVytPq9+nIUA++2qmA3k992gfylH3CFRM6mpsPezYvC8Wj3utU+j6ofdtHiDMzrvS9AmV0e6jnehY07R9Gbb4hlapaFYTxb//AfLxd8BVJAAA&quot;"/>
    <we:property name="isFiltersActionButtonVisible" value="true"/>
    <we:property name="isVisualContainerHeaderHidden" value="false"/>
    <we:property name="pageDisplayName" value="&quot;1&quot;"/>
    <we:property name="pageName" value="&quot;fc5a757758ebd1c6d920&quot;"/>
    <we:property name="pptInsertionSessionID" value="&quot;90520AA4-4B9F-4AEC-A43B-E4D081267E87&quot;"/>
    <we:property name="reportEmbeddedTime" value="&quot;2025-12-01T14:03:21.687Z&quot;"/>
    <we:property name="reportName" value="&quot;DEPIFinalProject2_Finalversion&quot;"/>
    <we:property name="reportState" value="&quot;CONNECTED&quot;"/>
    <we:property name="reportUrl" value="&quot;/links/4g6dmOncMm?ctid=a2c31985-cc3b-4e19-8fa2-59fa488f0c27&amp;bookmarkGuid=cc7e0718-51ba-4ebf-bbb3-9fb8375e0da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892</Words>
  <Application>Microsoft Office PowerPoint</Application>
  <PresentationFormat>Custom</PresentationFormat>
  <Paragraphs>103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Cloud Italics</vt:lpstr>
      <vt:lpstr>Arial</vt:lpstr>
      <vt:lpstr>Cloud Bold</vt:lpstr>
      <vt:lpstr>Clarendon Narrow Bold</vt:lpstr>
      <vt:lpstr>Cloud</vt:lpstr>
      <vt:lpstr>Calibri</vt:lpstr>
      <vt:lpstr>Clarendon Narrow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Beige Geometry Group Project Presentation</dc:title>
  <cp:lastModifiedBy>روضه ايمن سعد راشد</cp:lastModifiedBy>
  <cp:revision>7</cp:revision>
  <dcterms:created xsi:type="dcterms:W3CDTF">2006-08-16T00:00:00Z</dcterms:created>
  <dcterms:modified xsi:type="dcterms:W3CDTF">2025-12-08T22:43:06Z</dcterms:modified>
  <dc:identifier>DAG6QzBFt3M</dc:identifier>
</cp:coreProperties>
</file>